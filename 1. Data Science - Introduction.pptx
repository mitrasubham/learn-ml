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2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3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9D43E-44F1-84E2-AF38-4F49CFA747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A01CCA-B076-B1F2-C3A5-AC602D2FFE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6F266-9F10-EA49-4485-9F03C24B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FE327-3D1B-A4AE-7D2D-9540CDE87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7CB6D-6BDB-45E8-884A-5862D6DB3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753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DC0D5-E34E-B15E-DE21-66F91F92F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FAD3-2D05-0E79-3194-D3F3340F8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77C96-D54A-6F4E-410D-F5E5B9D67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B1FB25-07B3-99B1-90AB-DAEB9E39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B50F7-0426-834E-217A-4A3942C1B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421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A4CA-8AD2-8B4F-303C-5AB3279AB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517C0-3BC4-48BE-8AF2-E4F06D9A0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4498-D98F-4B99-8B14-9856B4C66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A5181-FC25-C696-4908-BFC812BE5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C223AB-AB9E-AB81-BA27-4796538E0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860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CABFF-B320-EC40-4893-EE9161633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37EEC-C480-D3D9-5BA7-FB35424765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81ECC4-9413-6486-21FC-169B36278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F205C-73E0-2062-EC0B-F3D8F18EE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A8AE8-88B2-C49D-5E1A-4DF2F5051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0BE82-D7DE-9DF2-C07F-51C5D2A48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0866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0D9F3-6F96-E0E9-EA27-C819D0E3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B0417-E50C-3F3D-B2F4-9A1D4D876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08199B-C7EC-5DA2-7B76-0ACFF0798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EDD1CD-89DF-DD33-F76F-E0574FA669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B158D-06E0-0A32-6C03-E0E31E6EF5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738758-3124-90AD-1A01-A63B08A0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DACDE3-2A28-396B-DC7B-017390905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14BC19-AD06-B981-2A85-E475EFCD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169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DF37-D9F7-29CB-D9F1-4BAF93EAC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E94037-5AF9-3A93-0AE3-407A61003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577387-31B4-47FF-FBC3-AB629AF6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5440D-5EFB-9991-1F59-87A208E6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90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375579-6228-15AC-A496-FF765048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85BD22-CEEC-025A-3A86-FA80132F1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C5B64-FE43-18B8-B995-B5757BF4E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953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15A79-BB92-D6DB-2C9D-70B03FE4D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8E489-95CE-A22D-1E7D-FCDC65355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50321A-1E6A-7D98-B88B-12E25B0327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E7CF3-AE69-0720-A236-203F45585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A248B-064B-3D5B-FBD3-B656E1DBF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74819-CF95-0828-9E3B-B3D253A63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890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31C1F-1463-FD43-551C-F4E095AB2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8ED7E-279D-4559-A935-62F0042313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7D4B52-FF82-41E5-D0E0-2C939CC689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08D0F-0B45-73B0-5C09-D98D21D89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25BA62-48DB-D5F2-22B7-3F0A2517C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96DEC-F4CC-46AC-A2E5-45526617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392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AC936-CC25-B095-DB6B-E3D5551D4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053857-5C7C-33F5-1608-BF6A205A8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E2815B-25E8-7432-1132-7BF30E88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10B7E5-E861-FF9F-60A2-720F79FBA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3CC24-DD58-4766-5305-C46BFAE27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92149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8A25E5-1E12-FC3C-BFF5-2B3D0B308D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6AD4F-B694-ED33-8AE9-0536A3406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97D70A-0217-D6A1-A936-A988183B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3E5CD-369C-3AE4-90DC-E9741AFA6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3362-CBFC-6215-2472-84C7F2021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1639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AEC094-57E4-3C98-A273-2E248CD42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862BF-79EC-94A2-4A6B-552EE2F74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5D40F3-2B12-FD25-93E6-E689FD259D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2FA6F-B3FB-45D4-9B1D-0EE4BC414A46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E99E0-A4D1-7AC3-0EC3-16280768F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B2947-1596-642D-1048-1F5BC97C2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C0FF6-EC08-4E0A-8809-E2E79E872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006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54E27-814E-743B-4B1E-0E00AF23B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303463"/>
            <a:ext cx="9144000" cy="1470008"/>
          </a:xfrm>
        </p:spPr>
        <p:txBody>
          <a:bodyPr/>
          <a:lstStyle/>
          <a:p>
            <a:r>
              <a:rPr lang="en-IN" dirty="0"/>
              <a:t>Data Science - Introduction </a:t>
            </a:r>
          </a:p>
        </p:txBody>
      </p:sp>
    </p:spTree>
    <p:extLst>
      <p:ext uri="{BB962C8B-B14F-4D97-AF65-F5344CB8AC3E}">
        <p14:creationId xmlns:p14="http://schemas.microsoft.com/office/powerpoint/2010/main" val="1051682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D245-3D08-A8BD-8344-828FC8BD8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148308"/>
            <a:ext cx="10515600" cy="756665"/>
          </a:xfrm>
        </p:spPr>
        <p:txBody>
          <a:bodyPr/>
          <a:lstStyle/>
          <a:p>
            <a:pPr algn="ctr"/>
            <a:r>
              <a:rPr lang="en-IN" dirty="0"/>
              <a:t>Data Science Buzzwords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18F94-360B-80C0-0737-AFD1BA6C2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3971" y="1365297"/>
            <a:ext cx="2944451" cy="333981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F934A2-1F3B-DB91-4AB2-55DAE53F38DE}"/>
              </a:ext>
            </a:extLst>
          </p:cNvPr>
          <p:cNvSpPr txBox="1"/>
          <p:nvPr/>
        </p:nvSpPr>
        <p:spPr>
          <a:xfrm>
            <a:off x="3197017" y="1097288"/>
            <a:ext cx="7137608" cy="4255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Statistician 25 years ago was responsible for :</a:t>
            </a:r>
          </a:p>
          <a:p>
            <a:r>
              <a:rPr lang="en-IN" sz="2200" dirty="0"/>
              <a:t>Gathering &amp; Cleaning Datasets applying statistical methods </a:t>
            </a:r>
          </a:p>
          <a:p>
            <a:endParaRPr lang="en-IN" sz="2200" dirty="0"/>
          </a:p>
          <a:p>
            <a:r>
              <a:rPr lang="en-IN" sz="2200" dirty="0"/>
              <a:t>After few years due to increased volume of data,  growth of technology and industry demand these statistician was expected to extract trends and patterns from data.</a:t>
            </a:r>
          </a:p>
          <a:p>
            <a:endParaRPr lang="en-IN" sz="2200" dirty="0"/>
          </a:p>
          <a:p>
            <a:r>
              <a:rPr lang="en-IN" sz="2200" dirty="0"/>
              <a:t>With advent of mathematical models now those statistician can perform more accurate forecasts  </a:t>
            </a:r>
          </a:p>
          <a:p>
            <a:endParaRPr lang="en-IN" sz="2200" dirty="0"/>
          </a:p>
          <a:p>
            <a:r>
              <a:rPr lang="en-IN" sz="2200" dirty="0"/>
              <a:t>So those statistician are equipped with technologies and more capable of predictions , hence part of Data Science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99A2B3-0935-0718-D432-B43EAC8FB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0262130"/>
              </p:ext>
            </p:extLst>
          </p:nvPr>
        </p:nvGraphicFramePr>
        <p:xfrm>
          <a:off x="10252245" y="728758"/>
          <a:ext cx="1920305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305">
                  <a:extLst>
                    <a:ext uri="{9D8B030D-6E8A-4147-A177-3AD203B41FA5}">
                      <a16:colId xmlns:a16="http://schemas.microsoft.com/office/drawing/2014/main" val="1422030890"/>
                    </a:ext>
                  </a:extLst>
                </a:gridCol>
              </a:tblGrid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1733019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r>
                        <a:rPr lang="en-IN" sz="2200" dirty="0"/>
                        <a:t>Statistics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235293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4707413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876867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r>
                        <a:rPr lang="en-IN" sz="2200" dirty="0"/>
                        <a:t>Data Mining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113543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391779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837320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r>
                        <a:rPr lang="en-IN" sz="2200" dirty="0"/>
                        <a:t>Predictive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42578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r>
                        <a:rPr lang="en-IN" sz="2200" dirty="0"/>
                        <a:t>Analytics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706040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7585895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r>
                        <a:rPr lang="en-IN" sz="2200" dirty="0"/>
                        <a:t>Data Science 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233106"/>
                  </a:ext>
                </a:extLst>
              </a:tr>
              <a:tr h="378058">
                <a:tc>
                  <a:txBody>
                    <a:bodyPr/>
                    <a:lstStyle/>
                    <a:p>
                      <a:endParaRPr lang="en-IN" sz="22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255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378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3E181-78A9-5F17-ED44-D58EE1F6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CD35-353F-9FD1-F093-571D35F64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148308"/>
            <a:ext cx="10515600" cy="756665"/>
          </a:xfrm>
        </p:spPr>
        <p:txBody>
          <a:bodyPr/>
          <a:lstStyle/>
          <a:p>
            <a:pPr algn="ctr"/>
            <a:r>
              <a:rPr lang="en-IN" dirty="0"/>
              <a:t>Analysis and Analytics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5A83BD-4BB8-D592-BFB1-4A3739A58646}"/>
              </a:ext>
            </a:extLst>
          </p:cNvPr>
          <p:cNvSpPr txBox="1"/>
          <p:nvPr/>
        </p:nvSpPr>
        <p:spPr>
          <a:xfrm>
            <a:off x="197964" y="1049664"/>
            <a:ext cx="116421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Analysis refers to things already happened in the past. It helps to explain how and why something happened like in business, decrease in Sales in last summer.</a:t>
            </a:r>
          </a:p>
          <a:p>
            <a:endParaRPr lang="en-IN" sz="2200" dirty="0"/>
          </a:p>
          <a:p>
            <a:r>
              <a:rPr lang="en-IN" sz="2200" dirty="0"/>
              <a:t>Analytics is more related to future events and predictions – it is  logical and computational reasoning to the component obtained during Analysis.   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B2D9AD-2494-301B-D431-AE3B48CCA380}"/>
              </a:ext>
            </a:extLst>
          </p:cNvPr>
          <p:cNvSpPr/>
          <p:nvPr/>
        </p:nvSpPr>
        <p:spPr>
          <a:xfrm>
            <a:off x="5352663" y="2979459"/>
            <a:ext cx="1920305" cy="598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Analytics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B61FDF-270C-26E5-C562-BC6A2284EE3B}"/>
              </a:ext>
            </a:extLst>
          </p:cNvPr>
          <p:cNvSpPr/>
          <p:nvPr/>
        </p:nvSpPr>
        <p:spPr>
          <a:xfrm>
            <a:off x="3875988" y="4112553"/>
            <a:ext cx="1920305" cy="598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Qualitative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1C4232-1A1C-2A94-DA43-ED7FD5B5633F}"/>
              </a:ext>
            </a:extLst>
          </p:cNvPr>
          <p:cNvSpPr/>
          <p:nvPr/>
        </p:nvSpPr>
        <p:spPr>
          <a:xfrm>
            <a:off x="6941459" y="4161532"/>
            <a:ext cx="1920305" cy="5984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Quantitative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7C445F-1CD7-8358-828E-B44F9AFB75DD}"/>
              </a:ext>
            </a:extLst>
          </p:cNvPr>
          <p:cNvCxnSpPr>
            <a:stCxn id="3" idx="2"/>
          </p:cNvCxnSpPr>
          <p:nvPr/>
        </p:nvCxnSpPr>
        <p:spPr>
          <a:xfrm flipH="1">
            <a:off x="6312815" y="3577898"/>
            <a:ext cx="1" cy="2354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FB2BA73-F300-D40B-3C84-D30A06B5151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312815" y="3813334"/>
            <a:ext cx="1588797" cy="3481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BA7A5A75-2283-EF51-3FE8-FED39A5615C3}"/>
              </a:ext>
            </a:extLst>
          </p:cNvPr>
          <p:cNvCxnSpPr>
            <a:cxnSpLocks/>
            <a:endCxn id="4" idx="0"/>
          </p:cNvCxnSpPr>
          <p:nvPr/>
        </p:nvCxnSpPr>
        <p:spPr>
          <a:xfrm rot="10800000" flipV="1">
            <a:off x="4836142" y="3815875"/>
            <a:ext cx="1476675" cy="29667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6582784-9E23-9417-A769-5E314FA501AF}"/>
              </a:ext>
            </a:extLst>
          </p:cNvPr>
          <p:cNvSpPr txBox="1"/>
          <p:nvPr/>
        </p:nvSpPr>
        <p:spPr>
          <a:xfrm>
            <a:off x="274949" y="4924588"/>
            <a:ext cx="1164210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A clothing store decides to sale types of clothes based on modern trend, competition is more of Qualitative Analytics.</a:t>
            </a:r>
          </a:p>
          <a:p>
            <a:endParaRPr lang="en-IN" sz="2200" dirty="0"/>
          </a:p>
          <a:p>
            <a:r>
              <a:rPr lang="en-IN" sz="2200" dirty="0"/>
              <a:t>When to raise stocks , when to give discounts or promotional offer is more based on previous data which is Quantitative.  </a:t>
            </a:r>
          </a:p>
        </p:txBody>
      </p:sp>
    </p:spTree>
    <p:extLst>
      <p:ext uri="{BB962C8B-B14F-4D97-AF65-F5344CB8AC3E}">
        <p14:creationId xmlns:p14="http://schemas.microsoft.com/office/powerpoint/2010/main" val="360754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67533-B565-7AE8-ACA9-845D1B8A9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D48379C-DA7D-4203-AB14-64AFCD907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49CD6C-7477-41DA-AA87-73A9A5916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3" r="887" b="2231"/>
          <a:stretch>
            <a:fillRect/>
          </a:stretch>
        </p:blipFill>
        <p:spPr>
          <a:xfrm>
            <a:off x="167148" y="79175"/>
            <a:ext cx="11857703" cy="650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412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F74B1-3EC5-1798-75AB-B458751B8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5484-A78D-0E62-0D60-45EBCAAF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148308"/>
            <a:ext cx="10515600" cy="756665"/>
          </a:xfrm>
        </p:spPr>
        <p:txBody>
          <a:bodyPr/>
          <a:lstStyle/>
          <a:p>
            <a:pPr algn="ctr"/>
            <a:r>
              <a:rPr lang="en-IN" dirty="0"/>
              <a:t>Business &amp; Data Analytics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386BF-9E8B-46A7-DB39-EA5679591B5E}"/>
              </a:ext>
            </a:extLst>
          </p:cNvPr>
          <p:cNvSpPr txBox="1"/>
          <p:nvPr/>
        </p:nvSpPr>
        <p:spPr>
          <a:xfrm>
            <a:off x="180681" y="898972"/>
            <a:ext cx="1188562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Business involves terms like Business Case Studies, Qualitative Analysis, Preliminary Data Report, Reporting with Graphs, Self Service BI, Creating Dashboards, A/B Testing.</a:t>
            </a:r>
          </a:p>
          <a:p>
            <a:endParaRPr lang="en-IN" sz="2200" dirty="0"/>
          </a:p>
          <a:p>
            <a:r>
              <a:rPr lang="en-IN" sz="2200" dirty="0"/>
              <a:t>Preliminary Report , Visual Reports, Self Service BI, Creating Dashboards and A/B Testing involves Data</a:t>
            </a:r>
          </a:p>
          <a:p>
            <a:endParaRPr lang="en-IN" sz="2200" dirty="0"/>
          </a:p>
          <a:p>
            <a:r>
              <a:rPr lang="en-IN" sz="2200" dirty="0"/>
              <a:t>Business Case Studies and Qualitative analytics belongs to Business analytics and QA is more about predict future </a:t>
            </a:r>
            <a:r>
              <a:rPr lang="en-IN" sz="2200" dirty="0" err="1"/>
              <a:t>behavior</a:t>
            </a:r>
            <a:r>
              <a:rPr lang="en-IN" sz="2200" dirty="0"/>
              <a:t>.</a:t>
            </a:r>
          </a:p>
          <a:p>
            <a:endParaRPr lang="en-IN" sz="2200" dirty="0"/>
          </a:p>
          <a:p>
            <a:r>
              <a:rPr lang="en-IN" sz="2200" dirty="0"/>
              <a:t>So Business Analytics and Data Analytics can be segregated based on timeline – Past , Present or Future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Report, Visuals all are based on Past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A/B Testing is based on past data but it is future prediction – so it more analytics activity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200" dirty="0"/>
          </a:p>
          <a:p>
            <a:r>
              <a:rPr lang="en-IN" sz="2200" dirty="0"/>
              <a:t>Data Science is a discipline reliant on data availability while business Analytics may not completely rely on data.</a:t>
            </a:r>
          </a:p>
          <a:p>
            <a:endParaRPr lang="en-IN" sz="2200" dirty="0"/>
          </a:p>
          <a:p>
            <a:r>
              <a:rPr lang="en-IN" sz="2200" dirty="0"/>
              <a:t>Presenting and Analysing past business data to have insight is Business Intelligence – preliminary steps of predictive analytics </a:t>
            </a:r>
          </a:p>
        </p:txBody>
      </p:sp>
    </p:spTree>
    <p:extLst>
      <p:ext uri="{BB962C8B-B14F-4D97-AF65-F5344CB8AC3E}">
        <p14:creationId xmlns:p14="http://schemas.microsoft.com/office/powerpoint/2010/main" val="2201798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6AF9-DB5C-0927-E13D-8291D13F0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4E26-A934-E119-9DF5-EF4FD314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148308"/>
            <a:ext cx="10515600" cy="756665"/>
          </a:xfrm>
        </p:spPr>
        <p:txBody>
          <a:bodyPr/>
          <a:lstStyle/>
          <a:p>
            <a:pPr algn="ctr"/>
            <a:r>
              <a:rPr lang="en-IN" dirty="0"/>
              <a:t>ML , AI &amp; Data Science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6C48E-26D1-0F75-3E92-93A6D46D7714}"/>
              </a:ext>
            </a:extLst>
          </p:cNvPr>
          <p:cNvSpPr txBox="1"/>
          <p:nvPr/>
        </p:nvSpPr>
        <p:spPr>
          <a:xfrm>
            <a:off x="180681" y="898972"/>
            <a:ext cx="1188562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Machine Learning is the ability of machines to predict outcomes without being explicitly programmed.</a:t>
            </a:r>
          </a:p>
          <a:p>
            <a:r>
              <a:rPr lang="en-IN" sz="2200" dirty="0"/>
              <a:t>So ML is about creating and implementing algorithms that let machine receive data and use this data to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Make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Analysing Pattern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Give recommendation </a:t>
            </a:r>
          </a:p>
          <a:p>
            <a:endParaRPr lang="en-IN" sz="2200" dirty="0"/>
          </a:p>
          <a:p>
            <a:r>
              <a:rPr lang="en-IN" sz="2200" dirty="0"/>
              <a:t>AI is simulating human knowledge decision making with computers – presently we have managed to reach AI through ML.</a:t>
            </a:r>
          </a:p>
          <a:p>
            <a:endParaRPr lang="en-IN" sz="2200" dirty="0"/>
          </a:p>
          <a:p>
            <a:r>
              <a:rPr lang="en-IN" sz="2200" dirty="0"/>
              <a:t>Due to development of ML, more business analytics application rely heavily on ML – Client Retention, Fraud prevention. Although  Sales forecasting started as preliminary Business Analytics but it has become more sophisticated with the advent of ML. </a:t>
            </a:r>
          </a:p>
          <a:p>
            <a:endParaRPr lang="en-IN" sz="2200" dirty="0"/>
          </a:p>
          <a:p>
            <a:r>
              <a:rPr lang="en-IN" sz="2200" dirty="0"/>
              <a:t>Data Science improves accuracy of predictions based on data extracted from various activities related to drilling efficiency. ML further optimizes the processes using real time data. </a:t>
            </a:r>
          </a:p>
          <a:p>
            <a:endParaRPr lang="en-IN" sz="2200" dirty="0"/>
          </a:p>
          <a:p>
            <a:r>
              <a:rPr lang="en-IN" sz="2200" dirty="0"/>
              <a:t>DSP is purely Data Analytics use case and ML can enhance further processing.</a:t>
            </a:r>
          </a:p>
        </p:txBody>
      </p:sp>
    </p:spTree>
    <p:extLst>
      <p:ext uri="{BB962C8B-B14F-4D97-AF65-F5344CB8AC3E}">
        <p14:creationId xmlns:p14="http://schemas.microsoft.com/office/powerpoint/2010/main" val="747587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5639B-BBA2-181D-724D-6FC4ACF02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32BFB-1AD1-240E-8EBD-0419EE8C6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602" y="72892"/>
            <a:ext cx="10515600" cy="756665"/>
          </a:xfrm>
        </p:spPr>
        <p:txBody>
          <a:bodyPr/>
          <a:lstStyle/>
          <a:p>
            <a:pPr algn="ctr"/>
            <a:r>
              <a:rPr lang="en-IN" dirty="0"/>
              <a:t>Traditional AI and GEN AI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F8BE43-52F1-DADC-A395-1F104F444F4D}"/>
              </a:ext>
            </a:extLst>
          </p:cNvPr>
          <p:cNvSpPr txBox="1"/>
          <p:nvPr/>
        </p:nvSpPr>
        <p:spPr>
          <a:xfrm>
            <a:off x="67557" y="691579"/>
            <a:ext cx="1173582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/>
              <a:t>Traditional AI is mainly applied to structured to improve efficiency and repetitive tasks </a:t>
            </a:r>
          </a:p>
          <a:p>
            <a:endParaRPr lang="en-IN" sz="2200" dirty="0"/>
          </a:p>
          <a:p>
            <a:r>
              <a:rPr lang="en-IN" sz="2200" dirty="0"/>
              <a:t>Generative AI is more about creating new text, audio , video by replying on pattern of a given dataset.  </a:t>
            </a:r>
          </a:p>
          <a:p>
            <a:r>
              <a:rPr lang="en-IN" sz="2200" dirty="0"/>
              <a:t>ML is a crucial and major component of AI.</a:t>
            </a:r>
          </a:p>
          <a:p>
            <a:endParaRPr lang="en-IN" sz="2200" dirty="0"/>
          </a:p>
          <a:p>
            <a:r>
              <a:rPr lang="en-IN" sz="2200" dirty="0"/>
              <a:t>Automated report generation is activities EDA + ML. </a:t>
            </a:r>
          </a:p>
          <a:p>
            <a:r>
              <a:rPr lang="en-IN" sz="2200" dirty="0"/>
              <a:t>EDA helps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Understanding past data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Identifying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200" dirty="0"/>
              <a:t>Displaying historical performance </a:t>
            </a:r>
          </a:p>
          <a:p>
            <a:endParaRPr lang="en-IN" sz="2200" dirty="0"/>
          </a:p>
          <a:p>
            <a:r>
              <a:rPr lang="en-IN" sz="2200" dirty="0"/>
              <a:t>Using GEN AI, Automated report generation can be enhanced by enabling to provide summaries and qualitative reports on data</a:t>
            </a:r>
          </a:p>
          <a:p>
            <a:r>
              <a:rPr lang="en-IN" sz="2200" dirty="0"/>
              <a:t>GEN AI enhances areas like product personalization to maintain user experience, satisfaction.</a:t>
            </a:r>
          </a:p>
          <a:p>
            <a:r>
              <a:rPr lang="en-IN" sz="2200" dirty="0"/>
              <a:t>GEN AI enhances Product analytics by Product feature suggestions, product ideation, simulation of customer-product interactions.</a:t>
            </a:r>
          </a:p>
          <a:p>
            <a:r>
              <a:rPr lang="en-IN" sz="2200" dirty="0"/>
              <a:t>Product Long Term strategies are know as scenario planning to </a:t>
            </a:r>
            <a:r>
              <a:rPr lang="en-IN" sz="2200" dirty="0" err="1"/>
              <a:t>solidfy</a:t>
            </a:r>
            <a:r>
              <a:rPr lang="en-IN" sz="2200" dirty="0"/>
              <a:t> strategies by measuring future market trends, potential opportunities and risks. </a:t>
            </a:r>
          </a:p>
        </p:txBody>
      </p:sp>
    </p:spTree>
    <p:extLst>
      <p:ext uri="{BB962C8B-B14F-4D97-AF65-F5344CB8AC3E}">
        <p14:creationId xmlns:p14="http://schemas.microsoft.com/office/powerpoint/2010/main" val="364055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689BA-3B7E-5581-B2F2-659BC5F3E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BF59547-1659-790F-7A4D-4C4C9DADC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659"/>
          <a:stretch>
            <a:fillRect/>
          </a:stretch>
        </p:blipFill>
        <p:spPr>
          <a:xfrm>
            <a:off x="-1" y="0"/>
            <a:ext cx="8142051" cy="68340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056CB3-BB34-8428-EEEE-751CA591108C}"/>
              </a:ext>
            </a:extLst>
          </p:cNvPr>
          <p:cNvSpPr txBox="1"/>
          <p:nvPr/>
        </p:nvSpPr>
        <p:spPr>
          <a:xfrm>
            <a:off x="8859054" y="722886"/>
            <a:ext cx="2955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Infographic used from 365 </a:t>
            </a:r>
            <a:r>
              <a:rPr lang="en-IN" dirty="0" err="1"/>
              <a:t>DataScience</a:t>
            </a:r>
            <a:r>
              <a:rPr lang="en-IN" dirty="0"/>
              <a:t> – Udemy course</a:t>
            </a:r>
          </a:p>
        </p:txBody>
      </p:sp>
    </p:spTree>
    <p:extLst>
      <p:ext uri="{BB962C8B-B14F-4D97-AF65-F5344CB8AC3E}">
        <p14:creationId xmlns:p14="http://schemas.microsoft.com/office/powerpoint/2010/main" val="1570145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CCD2E4D-4035-9FB9-C9D9-C9CA37F6AF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142"/>
          <a:stretch>
            <a:fillRect/>
          </a:stretch>
        </p:blipFill>
        <p:spPr>
          <a:xfrm>
            <a:off x="0" y="1235407"/>
            <a:ext cx="8655076" cy="55321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D9A780-473F-958B-3BE8-F6919926D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8" y="349014"/>
            <a:ext cx="8655076" cy="10225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B0F9D9-E987-73CE-7404-595DADF932DF}"/>
              </a:ext>
            </a:extLst>
          </p:cNvPr>
          <p:cNvSpPr txBox="1"/>
          <p:nvPr/>
        </p:nvSpPr>
        <p:spPr>
          <a:xfrm>
            <a:off x="9116229" y="865761"/>
            <a:ext cx="29557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Infographic used from 365 </a:t>
            </a:r>
            <a:r>
              <a:rPr lang="en-IN" dirty="0" err="1"/>
              <a:t>DataScience</a:t>
            </a:r>
            <a:r>
              <a:rPr lang="en-IN" dirty="0"/>
              <a:t> – Udemy course</a:t>
            </a:r>
          </a:p>
        </p:txBody>
      </p:sp>
    </p:spTree>
    <p:extLst>
      <p:ext uri="{BB962C8B-B14F-4D97-AF65-F5344CB8AC3E}">
        <p14:creationId xmlns:p14="http://schemas.microsoft.com/office/powerpoint/2010/main" val="294978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FD47F-B672-930B-475A-E3EA9ECB8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772" y="233680"/>
            <a:ext cx="10903085" cy="695190"/>
          </a:xfrm>
        </p:spPr>
        <p:txBody>
          <a:bodyPr>
            <a:normAutofit/>
          </a:bodyPr>
          <a:lstStyle/>
          <a:p>
            <a:r>
              <a:rPr lang="en-IN" dirty="0"/>
              <a:t>BI – How do we measure business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1977-3873-470F-AD67-93EEA4837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45" y="1060316"/>
            <a:ext cx="11631796" cy="5564004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Collecting observation – sales volume, new customers : monthly revenue and each customer is considered as single observation</a:t>
            </a:r>
          </a:p>
          <a:p>
            <a:endParaRPr lang="en-IN" dirty="0"/>
          </a:p>
          <a:p>
            <a:r>
              <a:rPr lang="en-IN" dirty="0"/>
              <a:t>Quantify observations – like sales for </a:t>
            </a:r>
            <a:r>
              <a:rPr lang="en-IN" dirty="0" err="1"/>
              <a:t>jan</a:t>
            </a:r>
            <a:r>
              <a:rPr lang="en-IN" dirty="0"/>
              <a:t>, </a:t>
            </a:r>
            <a:r>
              <a:rPr lang="en-IN" dirty="0" err="1"/>
              <a:t>feb</a:t>
            </a:r>
            <a:r>
              <a:rPr lang="en-IN" dirty="0"/>
              <a:t> and mar for an existing customer is 100,120,150; number for new customers may be 10,15 and 25</a:t>
            </a:r>
          </a:p>
          <a:p>
            <a:endParaRPr lang="en-IN" dirty="0"/>
          </a:p>
          <a:p>
            <a:r>
              <a:rPr lang="en-IN" dirty="0"/>
              <a:t>Measure – this is an accumulation of observation like revenue in 1</a:t>
            </a:r>
            <a:r>
              <a:rPr lang="en-IN" baseline="30000" dirty="0"/>
              <a:t>st</a:t>
            </a:r>
            <a:r>
              <a:rPr lang="en-IN" dirty="0"/>
              <a:t> quarter : so measure is related to a simple descriptive statistics of past performance.</a:t>
            </a:r>
          </a:p>
          <a:p>
            <a:endParaRPr lang="en-IN" dirty="0"/>
          </a:p>
          <a:p>
            <a:r>
              <a:rPr lang="en-IN" dirty="0"/>
              <a:t>Metric is a measure with business meaning : Measure + Business Meaning</a:t>
            </a:r>
          </a:p>
          <a:p>
            <a:pPr lvl="1"/>
            <a:r>
              <a:rPr lang="en-IN" dirty="0"/>
              <a:t>Average Quarterly Revenue per Customer : 350 / 50 = 7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Choose Metrics which are tightly aligned with business objective – these are known as KPIs – these are displayed in Dashboards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6849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7E153-46DF-FF3D-BE8E-2307C913D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F7AB-A681-2984-ECFC-C503FA80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83846"/>
            <a:ext cx="10903085" cy="69519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Predictive Analytics - Traditional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8ED15-4B8D-B4CF-38F0-314334C43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102" y="1143000"/>
            <a:ext cx="11797598" cy="5431154"/>
          </a:xfrm>
        </p:spPr>
        <p:txBody>
          <a:bodyPr>
            <a:normAutofit/>
          </a:bodyPr>
          <a:lstStyle/>
          <a:p>
            <a:r>
              <a:rPr lang="en-IN" dirty="0"/>
              <a:t>Regression – This is a model used for quantifying causal relationships among the different variables included in our analysis.</a:t>
            </a:r>
          </a:p>
          <a:p>
            <a:pPr lvl="1"/>
            <a:r>
              <a:rPr lang="en-IN" dirty="0"/>
              <a:t>House price and house size </a:t>
            </a:r>
          </a:p>
          <a:p>
            <a:endParaRPr lang="en-IN" dirty="0"/>
          </a:p>
          <a:p>
            <a:r>
              <a:rPr lang="en-IN" dirty="0"/>
              <a:t>Logistics Regression – non-linear regression with 0 and 1 </a:t>
            </a:r>
          </a:p>
          <a:p>
            <a:endParaRPr lang="en-IN" dirty="0"/>
          </a:p>
          <a:p>
            <a:r>
              <a:rPr lang="en-IN" dirty="0"/>
              <a:t>Clustering – grouping observations when data is divided into few groups</a:t>
            </a:r>
          </a:p>
          <a:p>
            <a:pPr lvl="1"/>
            <a:r>
              <a:rPr lang="en-IN" dirty="0"/>
              <a:t>Price of Houses varies due to location – city centre, far from city, nice neighbourhood</a:t>
            </a:r>
          </a:p>
          <a:p>
            <a:endParaRPr lang="en-IN" dirty="0"/>
          </a:p>
          <a:p>
            <a:r>
              <a:rPr lang="en-IN" dirty="0"/>
              <a:t>Multiple explanatory variable or regressors is difficult to handle. We use Factor Analysis to reduce or grouping explanatory variables 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60838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C87B4-F189-9F29-D543-FC0F7B631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84BAB-3343-3570-4AEE-945FB45B1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4" y="93346"/>
            <a:ext cx="10903085" cy="69519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Machine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52430-1B50-067F-E4E3-361C20F3F4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50" y="979036"/>
            <a:ext cx="11756391" cy="564528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Machine Learning is all about creating an algorithm which is used by machine to find a model that fits the data as best as possible to make accurate prediction.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We don’t give instruction to machine how to find the model.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We provide algorithm which give Machine direction on how learn on its own. </a:t>
            </a:r>
          </a:p>
          <a:p>
            <a:pPr marL="0" indent="0">
              <a:buNone/>
            </a:pPr>
            <a:r>
              <a:rPr lang="en-IN" dirty="0"/>
              <a:t>Machine Learning Algorithm is a trial and error process which has :</a:t>
            </a:r>
            <a:br>
              <a:rPr lang="en-IN" dirty="0"/>
            </a:br>
            <a:r>
              <a:rPr lang="en-IN" dirty="0"/>
              <a:t>- Data (Training and test)</a:t>
            </a:r>
          </a:p>
          <a:p>
            <a:pPr marL="0" indent="0">
              <a:buNone/>
            </a:pPr>
            <a:r>
              <a:rPr lang="en-IN" dirty="0"/>
              <a:t>- Model – Through which data is used (Training)</a:t>
            </a:r>
          </a:p>
          <a:p>
            <a:pPr marL="0" indent="0">
              <a:buNone/>
            </a:pPr>
            <a:r>
              <a:rPr lang="en-IN" dirty="0"/>
              <a:t>- Objective Function – The objective function calculates how far from target </a:t>
            </a:r>
          </a:p>
          <a:p>
            <a:pPr marL="0" indent="0">
              <a:buNone/>
            </a:pPr>
            <a:r>
              <a:rPr lang="en-IN" dirty="0"/>
              <a:t>- Optimization Algorithm – Correct the errors or deviation from </a:t>
            </a:r>
            <a:r>
              <a:rPr lang="en-IN" dirty="0" err="1"/>
              <a:t>Obj</a:t>
            </a:r>
            <a:r>
              <a:rPr lang="en-IN" dirty="0"/>
              <a:t> Func and improves level of accuracy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9764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F2395D-5600-2B22-6412-E7DF837C8488}"/>
              </a:ext>
            </a:extLst>
          </p:cNvPr>
          <p:cNvSpPr/>
          <p:nvPr/>
        </p:nvSpPr>
        <p:spPr>
          <a:xfrm>
            <a:off x="1470580" y="1866507"/>
            <a:ext cx="1461154" cy="209275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B9822-9420-9045-1882-A45551758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9963150" cy="863796"/>
          </a:xfrm>
        </p:spPr>
        <p:txBody>
          <a:bodyPr/>
          <a:lstStyle/>
          <a:p>
            <a:pPr algn="ctr"/>
            <a:r>
              <a:rPr lang="en-IN" dirty="0"/>
              <a:t>M/L Model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431A9A-D8FE-C33E-7C42-D291680D284A}"/>
              </a:ext>
            </a:extLst>
          </p:cNvPr>
          <p:cNvSpPr txBox="1"/>
          <p:nvPr/>
        </p:nvSpPr>
        <p:spPr>
          <a:xfrm>
            <a:off x="1630837" y="2205872"/>
            <a:ext cx="1140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Train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D3789E-9DA7-C9D6-5648-716455C666A1}"/>
              </a:ext>
            </a:extLst>
          </p:cNvPr>
          <p:cNvSpPr txBox="1"/>
          <p:nvPr/>
        </p:nvSpPr>
        <p:spPr>
          <a:xfrm>
            <a:off x="1630836" y="3370165"/>
            <a:ext cx="1140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Test Data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0CA3EE-3C43-998E-92D4-C669299B7F89}"/>
              </a:ext>
            </a:extLst>
          </p:cNvPr>
          <p:cNvCxnSpPr/>
          <p:nvPr/>
        </p:nvCxnSpPr>
        <p:spPr>
          <a:xfrm>
            <a:off x="1470580" y="3181350"/>
            <a:ext cx="146115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FD51CF-2383-F367-C772-6784FECB4939}"/>
              </a:ext>
            </a:extLst>
          </p:cNvPr>
          <p:cNvSpPr/>
          <p:nvPr/>
        </p:nvSpPr>
        <p:spPr>
          <a:xfrm>
            <a:off x="4562475" y="2390538"/>
            <a:ext cx="1952625" cy="11622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Suitable M/L Model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77B6DA4-12F5-0543-F02D-A1D94C1B6D48}"/>
              </a:ext>
            </a:extLst>
          </p:cNvPr>
          <p:cNvSpPr/>
          <p:nvPr/>
        </p:nvSpPr>
        <p:spPr>
          <a:xfrm>
            <a:off x="3057525" y="2912882"/>
            <a:ext cx="1390650" cy="2684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2D0FD15-BEDB-D450-855C-94DA34AD050D}"/>
              </a:ext>
            </a:extLst>
          </p:cNvPr>
          <p:cNvSpPr/>
          <p:nvPr/>
        </p:nvSpPr>
        <p:spPr>
          <a:xfrm rot="16200000">
            <a:off x="5122380" y="3900359"/>
            <a:ext cx="832814" cy="2818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5658B48-E656-5D77-7FC7-8AC961ABF467}"/>
              </a:ext>
            </a:extLst>
          </p:cNvPr>
          <p:cNvSpPr/>
          <p:nvPr/>
        </p:nvSpPr>
        <p:spPr>
          <a:xfrm>
            <a:off x="6755191" y="2901672"/>
            <a:ext cx="1390650" cy="2684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0ECB3C-88BC-2876-D22B-22A7008A372B}"/>
              </a:ext>
            </a:extLst>
          </p:cNvPr>
          <p:cNvSpPr txBox="1"/>
          <p:nvPr/>
        </p:nvSpPr>
        <p:spPr>
          <a:xfrm>
            <a:off x="5063948" y="4529768"/>
            <a:ext cx="123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New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6CB853-CF18-DA8B-0BED-9CA86DE8E7EE}"/>
              </a:ext>
            </a:extLst>
          </p:cNvPr>
          <p:cNvSpPr txBox="1"/>
          <p:nvPr/>
        </p:nvSpPr>
        <p:spPr>
          <a:xfrm>
            <a:off x="8912048" y="2851235"/>
            <a:ext cx="2441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Predictions / Insights</a:t>
            </a:r>
          </a:p>
        </p:txBody>
      </p:sp>
    </p:spTree>
    <p:extLst>
      <p:ext uri="{BB962C8B-B14F-4D97-AF65-F5344CB8AC3E}">
        <p14:creationId xmlns:p14="http://schemas.microsoft.com/office/powerpoint/2010/main" val="3931769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8CDBE-C145-62A1-CFAB-D2C37286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0410D-7824-CC98-FCBC-5BB6499E3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83846"/>
            <a:ext cx="10903085" cy="695190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Machine Learning Types - Supervised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6B7B2-8482-0237-2029-63A45F64F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6045" y="1060316"/>
            <a:ext cx="11631796" cy="5564004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IN" sz="3300" dirty="0"/>
              <a:t>Supervised Learning – </a:t>
            </a:r>
            <a:r>
              <a:rPr lang="en-GB" sz="3300" dirty="0"/>
              <a:t>Supervised learning is a type of machine learning where the model is trained on a labelled dataset, meaning each training example is paired with an output label.</a:t>
            </a:r>
            <a:r>
              <a:rPr lang="en-IN" sz="3300" dirty="0"/>
              <a:t> It measure the accuracy through objective function. </a:t>
            </a:r>
          </a:p>
          <a:p>
            <a:pPr marL="0" indent="0">
              <a:buNone/>
            </a:pPr>
            <a:endParaRPr lang="en-IN" sz="3300" dirty="0"/>
          </a:p>
          <a:p>
            <a:pPr marL="0" indent="0">
              <a:buNone/>
            </a:pPr>
            <a:r>
              <a:rPr lang="en-IN" sz="3300" dirty="0"/>
              <a:t>Linear Regression – For predicting continuous values (regression).</a:t>
            </a:r>
          </a:p>
          <a:p>
            <a:pPr marL="0" indent="0">
              <a:buNone/>
            </a:pPr>
            <a:r>
              <a:rPr lang="en-IN" sz="3300" dirty="0"/>
              <a:t>Logistic Regression – For binary classification problems.</a:t>
            </a:r>
          </a:p>
          <a:p>
            <a:pPr marL="0" indent="0">
              <a:buNone/>
            </a:pPr>
            <a:r>
              <a:rPr lang="en-IN" sz="3300" dirty="0"/>
              <a:t>Decision Trees</a:t>
            </a:r>
          </a:p>
          <a:p>
            <a:pPr marL="0" indent="0">
              <a:buNone/>
            </a:pPr>
            <a:r>
              <a:rPr lang="en-IN" sz="3300" dirty="0"/>
              <a:t>Random Forest</a:t>
            </a:r>
          </a:p>
          <a:p>
            <a:pPr marL="0" indent="0">
              <a:buNone/>
            </a:pPr>
            <a:r>
              <a:rPr lang="en-IN" sz="3300" dirty="0"/>
              <a:t>Support Vector Machines (SVM)</a:t>
            </a:r>
          </a:p>
          <a:p>
            <a:pPr marL="0" indent="0">
              <a:buNone/>
            </a:pPr>
            <a:r>
              <a:rPr lang="en-IN" sz="3300" dirty="0"/>
              <a:t>K-Nearest </a:t>
            </a:r>
            <a:r>
              <a:rPr lang="en-IN" sz="3300" dirty="0" err="1"/>
              <a:t>Neighbors</a:t>
            </a:r>
            <a:r>
              <a:rPr lang="en-IN" sz="3300" dirty="0"/>
              <a:t> (KNN)</a:t>
            </a:r>
          </a:p>
          <a:p>
            <a:pPr marL="0" indent="0">
              <a:buNone/>
            </a:pPr>
            <a:r>
              <a:rPr lang="en-IN" sz="3300" dirty="0"/>
              <a:t>Naive Bayes</a:t>
            </a:r>
          </a:p>
          <a:p>
            <a:pPr marL="0" indent="0">
              <a:buNone/>
            </a:pPr>
            <a:r>
              <a:rPr lang="en-IN" sz="3300" dirty="0"/>
              <a:t>Neural Networks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0683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55DB-9995-E076-DF52-2FDC7AED3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988040" cy="945515"/>
          </a:xfrm>
        </p:spPr>
        <p:txBody>
          <a:bodyPr>
            <a:normAutofit fontScale="90000"/>
          </a:bodyPr>
          <a:lstStyle/>
          <a:p>
            <a:r>
              <a:rPr lang="en-IN" dirty="0"/>
              <a:t>Machine Learning Types - Unsupervised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3B495-731D-7124-10D1-D578DBDF4924}"/>
              </a:ext>
            </a:extLst>
          </p:cNvPr>
          <p:cNvSpPr txBox="1"/>
          <p:nvPr/>
        </p:nvSpPr>
        <p:spPr>
          <a:xfrm>
            <a:off x="568960" y="1310640"/>
            <a:ext cx="1125728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Definition:</a:t>
            </a:r>
          </a:p>
          <a:p>
            <a:pPr>
              <a:buNone/>
            </a:pPr>
            <a:r>
              <a:rPr lang="en-IN" sz="2400" dirty="0"/>
              <a:t>Unsupervised learning involves training a model on data without labelled responses. The goal is to identify patterns, groupings, or structures in the data.</a:t>
            </a:r>
          </a:p>
          <a:p>
            <a:pPr>
              <a:buNone/>
            </a:pPr>
            <a:r>
              <a:rPr lang="en-IN" sz="2400" b="1" dirty="0"/>
              <a:t>Example:</a:t>
            </a:r>
          </a:p>
          <a:p>
            <a:pPr>
              <a:buNone/>
            </a:pPr>
            <a:r>
              <a:rPr lang="en-IN" sz="2400" dirty="0"/>
              <a:t>Customer segmentation in marketing: Grouping customers based on purchasing </a:t>
            </a:r>
            <a:r>
              <a:rPr lang="en-IN" sz="2400" dirty="0" err="1"/>
              <a:t>behavior</a:t>
            </a:r>
            <a:r>
              <a:rPr lang="en-IN" sz="2400" dirty="0"/>
              <a:t> without predefined labels.</a:t>
            </a:r>
          </a:p>
          <a:p>
            <a:pPr>
              <a:buNone/>
            </a:pPr>
            <a:endParaRPr lang="en-IN" sz="2400" b="1" dirty="0"/>
          </a:p>
          <a:p>
            <a:pPr>
              <a:buNone/>
            </a:pPr>
            <a:r>
              <a:rPr lang="en-IN" sz="2400" b="1" dirty="0"/>
              <a:t>Common Algorithms: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K-Means Clustering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Hierarchical Clustering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DBSCAN (Density-Based Spatial Clustering)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Principal Component Analysis (PCA)</a:t>
            </a:r>
            <a:r>
              <a:rPr lang="en-IN" sz="2400" dirty="0"/>
              <a:t> – For dimensionality reduction.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Autoencoders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1" dirty="0"/>
              <a:t> Gaussian Mixture Models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39988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4B7B-5EB7-F9F3-B50B-1C2D39AFD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1995"/>
          </a:xfrm>
        </p:spPr>
        <p:txBody>
          <a:bodyPr/>
          <a:lstStyle/>
          <a:p>
            <a:r>
              <a:rPr lang="en-GB" b="1" dirty="0"/>
              <a:t>Reinforcement Learning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A34384-F448-08E3-76EA-7130E9E4FD60}"/>
              </a:ext>
            </a:extLst>
          </p:cNvPr>
          <p:cNvSpPr txBox="1"/>
          <p:nvPr/>
        </p:nvSpPr>
        <p:spPr>
          <a:xfrm>
            <a:off x="767080" y="1166842"/>
            <a:ext cx="1090676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200" b="1" dirty="0"/>
              <a:t>Definition:</a:t>
            </a:r>
          </a:p>
          <a:p>
            <a:pPr>
              <a:buNone/>
            </a:pPr>
            <a:r>
              <a:rPr lang="en-GB" sz="2200" dirty="0"/>
              <a:t>Reinforcement learning is a feedback-based learning technique where an agent learns to take actions in an environment to maximize cumulative rewards.</a:t>
            </a:r>
          </a:p>
          <a:p>
            <a:pPr>
              <a:buNone/>
            </a:pPr>
            <a:endParaRPr lang="en-GB" sz="2200" b="1" dirty="0"/>
          </a:p>
          <a:p>
            <a:pPr>
              <a:buNone/>
            </a:pPr>
            <a:r>
              <a:rPr lang="en-GB" sz="2200" b="1" dirty="0"/>
              <a:t>Example:</a:t>
            </a:r>
          </a:p>
          <a:p>
            <a:pPr>
              <a:buNone/>
            </a:pPr>
            <a:r>
              <a:rPr lang="en-GB" sz="2200" dirty="0"/>
              <a:t>Training a robot to walk or a game-playing AI (like AlphaGo) to win a match by rewarding good actions and penalizing bad ones.</a:t>
            </a:r>
          </a:p>
          <a:p>
            <a:pPr>
              <a:buNone/>
            </a:pPr>
            <a:endParaRPr lang="en-GB" sz="2200" b="1" dirty="0"/>
          </a:p>
          <a:p>
            <a:pPr>
              <a:buNone/>
            </a:pPr>
            <a:r>
              <a:rPr lang="en-GB" sz="2200" b="1" dirty="0"/>
              <a:t>Common Algorithms: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Q-Learning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Deep Q Networks (DQN)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SARSA (State-Action-Reward-State-Action)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Policy Gradient Methods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Actor-Critic Methods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Proximal Policy Optimization (PPO)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Monte Carlo Tree Search (MCTS)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2530755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1258</Words>
  <Application>Microsoft Office PowerPoint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Data Science - Introduction </vt:lpstr>
      <vt:lpstr>Data Science Buzzwords</vt:lpstr>
      <vt:lpstr>Analysis and Analytics </vt:lpstr>
      <vt:lpstr>PowerPoint Presentation</vt:lpstr>
      <vt:lpstr>Business &amp; Data Analytics </vt:lpstr>
      <vt:lpstr>ML , AI &amp; Data Science </vt:lpstr>
      <vt:lpstr>Traditional AI and GEN AI </vt:lpstr>
      <vt:lpstr>PowerPoint Presentation</vt:lpstr>
      <vt:lpstr>PowerPoint Presentation</vt:lpstr>
      <vt:lpstr>BI – How do we measure business performance</vt:lpstr>
      <vt:lpstr>Predictive Analytics - Traditional</vt:lpstr>
      <vt:lpstr>Machine Learning </vt:lpstr>
      <vt:lpstr>M/L Model works</vt:lpstr>
      <vt:lpstr>Machine Learning Types - Supervised</vt:lpstr>
      <vt:lpstr>Machine Learning Types - Unsupervised Learning</vt:lpstr>
      <vt:lpstr>Reinforcement Learning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Wise Mind</dc:creator>
  <cp:lastModifiedBy>Subham Mitra</cp:lastModifiedBy>
  <cp:revision>5</cp:revision>
  <dcterms:created xsi:type="dcterms:W3CDTF">2025-07-02T10:41:00Z</dcterms:created>
  <dcterms:modified xsi:type="dcterms:W3CDTF">2025-07-11T09:50:20Z</dcterms:modified>
</cp:coreProperties>
</file>