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459" r:id="rId3"/>
    <p:sldId id="256" r:id="rId4"/>
    <p:sldId id="483" r:id="rId5"/>
    <p:sldId id="484" r:id="rId6"/>
    <p:sldId id="473" r:id="rId7"/>
    <p:sldId id="485" r:id="rId8"/>
    <p:sldId id="486" r:id="rId9"/>
    <p:sldId id="487" r:id="rId10"/>
    <p:sldId id="488" r:id="rId11"/>
    <p:sldId id="474" r:id="rId12"/>
    <p:sldId id="48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1" d="100"/>
          <a:sy n="71" d="100"/>
        </p:scale>
        <p:origin x="1138" y="2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C14B319-DD48-4C7B-B268-E8EDA941F48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A62A38E-686B-4EEB-96D4-8291ECDF7E45}">
      <dgm:prSet/>
      <dgm:spPr/>
      <dgm:t>
        <a:bodyPr/>
        <a:lstStyle/>
        <a:p>
          <a:r>
            <a:rPr lang="en-GB"/>
            <a:t>Machine Learning is the field of study that gives computers the ability to learn </a:t>
          </a:r>
          <a:r>
            <a:rPr lang="en-IN"/>
            <a:t>without being explicitly programmed.  —Arthur Samuel, </a:t>
          </a:r>
          <a:r>
            <a:rPr lang="en-IN" i="1"/>
            <a:t>1959</a:t>
          </a:r>
          <a:endParaRPr lang="en-US"/>
        </a:p>
      </dgm:t>
    </dgm:pt>
    <dgm:pt modelId="{0D22BE50-59C0-4DC3-8D29-DD5C56E15975}" type="parTrans" cxnId="{0C7B2A38-F280-44E6-B8CC-3B54C2B30A48}">
      <dgm:prSet/>
      <dgm:spPr/>
      <dgm:t>
        <a:bodyPr/>
        <a:lstStyle/>
        <a:p>
          <a:endParaRPr lang="en-US"/>
        </a:p>
      </dgm:t>
    </dgm:pt>
    <dgm:pt modelId="{EE80EA21-8D5F-45C5-A874-C88A518DAB84}" type="sibTrans" cxnId="{0C7B2A38-F280-44E6-B8CC-3B54C2B30A48}">
      <dgm:prSet/>
      <dgm:spPr/>
      <dgm:t>
        <a:bodyPr/>
        <a:lstStyle/>
        <a:p>
          <a:endParaRPr lang="en-US"/>
        </a:p>
      </dgm:t>
    </dgm:pt>
    <dgm:pt modelId="{434C2A08-46F7-47AC-9165-ECCCF0DC9969}">
      <dgm:prSet/>
      <dgm:spPr/>
      <dgm:t>
        <a:bodyPr/>
        <a:lstStyle/>
        <a:p>
          <a:r>
            <a:rPr lang="en-GB" dirty="0"/>
            <a:t>A computer program is said to learn from experience E with respect to some task T and some performance measure P, if its performance on T, as measured by P, improves </a:t>
          </a:r>
          <a:r>
            <a:rPr lang="en-IN" dirty="0"/>
            <a:t>with experience E.  —Tom Mitchell, </a:t>
          </a:r>
          <a:r>
            <a:rPr lang="en-IN" i="1" dirty="0"/>
            <a:t>1997</a:t>
          </a:r>
          <a:endParaRPr lang="en-US" dirty="0"/>
        </a:p>
      </dgm:t>
    </dgm:pt>
    <dgm:pt modelId="{233CDA66-0459-40E7-B24C-618692D8B79C}" type="parTrans" cxnId="{20C88FD1-B14D-4295-8BD2-A7227B99CE34}">
      <dgm:prSet/>
      <dgm:spPr/>
      <dgm:t>
        <a:bodyPr/>
        <a:lstStyle/>
        <a:p>
          <a:endParaRPr lang="en-US"/>
        </a:p>
      </dgm:t>
    </dgm:pt>
    <dgm:pt modelId="{02157FE6-1CD4-41DE-83FB-CB3CE7ABA218}" type="sibTrans" cxnId="{20C88FD1-B14D-4295-8BD2-A7227B99CE34}">
      <dgm:prSet/>
      <dgm:spPr/>
      <dgm:t>
        <a:bodyPr/>
        <a:lstStyle/>
        <a:p>
          <a:endParaRPr lang="en-US"/>
        </a:p>
      </dgm:t>
    </dgm:pt>
    <dgm:pt modelId="{FE2A5D12-31A2-4201-A7D3-C3FBF3CEBF2D}" type="pres">
      <dgm:prSet presAssocID="{7C14B319-DD48-4C7B-B268-E8EDA941F48A}" presName="linear" presStyleCnt="0">
        <dgm:presLayoutVars>
          <dgm:animLvl val="lvl"/>
          <dgm:resizeHandles val="exact"/>
        </dgm:presLayoutVars>
      </dgm:prSet>
      <dgm:spPr/>
    </dgm:pt>
    <dgm:pt modelId="{84BDE8AA-DB72-4ADD-985D-52161C2FB4AC}" type="pres">
      <dgm:prSet presAssocID="{2A62A38E-686B-4EEB-96D4-8291ECDF7E45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4B988DF9-BC11-483F-9162-8C53BB9287D5}" type="pres">
      <dgm:prSet presAssocID="{EE80EA21-8D5F-45C5-A874-C88A518DAB84}" presName="spacer" presStyleCnt="0"/>
      <dgm:spPr/>
    </dgm:pt>
    <dgm:pt modelId="{F1E80230-070F-4199-8A9F-D35DC2C1AFFD}" type="pres">
      <dgm:prSet presAssocID="{434C2A08-46F7-47AC-9165-ECCCF0DC9969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BBC5F22B-CE60-4AB3-9932-0DA32C998CAA}" type="presOf" srcId="{434C2A08-46F7-47AC-9165-ECCCF0DC9969}" destId="{F1E80230-070F-4199-8A9F-D35DC2C1AFFD}" srcOrd="0" destOrd="0" presId="urn:microsoft.com/office/officeart/2005/8/layout/vList2"/>
    <dgm:cxn modelId="{0C7B2A38-F280-44E6-B8CC-3B54C2B30A48}" srcId="{7C14B319-DD48-4C7B-B268-E8EDA941F48A}" destId="{2A62A38E-686B-4EEB-96D4-8291ECDF7E45}" srcOrd="0" destOrd="0" parTransId="{0D22BE50-59C0-4DC3-8D29-DD5C56E15975}" sibTransId="{EE80EA21-8D5F-45C5-A874-C88A518DAB84}"/>
    <dgm:cxn modelId="{F8FF4977-06BB-459A-86E8-62B35D3F848F}" type="presOf" srcId="{2A62A38E-686B-4EEB-96D4-8291ECDF7E45}" destId="{84BDE8AA-DB72-4ADD-985D-52161C2FB4AC}" srcOrd="0" destOrd="0" presId="urn:microsoft.com/office/officeart/2005/8/layout/vList2"/>
    <dgm:cxn modelId="{20C88FD1-B14D-4295-8BD2-A7227B99CE34}" srcId="{7C14B319-DD48-4C7B-B268-E8EDA941F48A}" destId="{434C2A08-46F7-47AC-9165-ECCCF0DC9969}" srcOrd="1" destOrd="0" parTransId="{233CDA66-0459-40E7-B24C-618692D8B79C}" sibTransId="{02157FE6-1CD4-41DE-83FB-CB3CE7ABA218}"/>
    <dgm:cxn modelId="{EB3657FE-0984-41B3-8D15-ED36BBC9EB38}" type="presOf" srcId="{7C14B319-DD48-4C7B-B268-E8EDA941F48A}" destId="{FE2A5D12-31A2-4201-A7D3-C3FBF3CEBF2D}" srcOrd="0" destOrd="0" presId="urn:microsoft.com/office/officeart/2005/8/layout/vList2"/>
    <dgm:cxn modelId="{726DD621-6779-493B-8E5F-9827EE3C5C35}" type="presParOf" srcId="{FE2A5D12-31A2-4201-A7D3-C3FBF3CEBF2D}" destId="{84BDE8AA-DB72-4ADD-985D-52161C2FB4AC}" srcOrd="0" destOrd="0" presId="urn:microsoft.com/office/officeart/2005/8/layout/vList2"/>
    <dgm:cxn modelId="{11D49FE1-EA72-4C39-B5E7-999B13FEAA63}" type="presParOf" srcId="{FE2A5D12-31A2-4201-A7D3-C3FBF3CEBF2D}" destId="{4B988DF9-BC11-483F-9162-8C53BB9287D5}" srcOrd="1" destOrd="0" presId="urn:microsoft.com/office/officeart/2005/8/layout/vList2"/>
    <dgm:cxn modelId="{3444103F-F853-4F53-B13F-B9C8109C1006}" type="presParOf" srcId="{FE2A5D12-31A2-4201-A7D3-C3FBF3CEBF2D}" destId="{F1E80230-070F-4199-8A9F-D35DC2C1AFFD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97BCFD8-119C-4C16-9C0E-B403B038FC57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65A31280-39C9-4CF6-A70E-93779826C057}">
      <dgm:prSet/>
      <dgm:spPr/>
      <dgm:t>
        <a:bodyPr/>
        <a:lstStyle/>
        <a:p>
          <a:r>
            <a:rPr lang="en-US"/>
            <a:t>Machine learning can be classified based on the following :</a:t>
          </a:r>
        </a:p>
      </dgm:t>
    </dgm:pt>
    <dgm:pt modelId="{C829BD04-8FA6-41F9-860F-993DE3FF994D}" type="parTrans" cxnId="{BB54BE4D-6586-4D3C-9914-10C59B132197}">
      <dgm:prSet/>
      <dgm:spPr/>
      <dgm:t>
        <a:bodyPr/>
        <a:lstStyle/>
        <a:p>
          <a:endParaRPr lang="en-US"/>
        </a:p>
      </dgm:t>
    </dgm:pt>
    <dgm:pt modelId="{70F60DF5-9177-47EB-9F4D-35F8C16A904B}" type="sibTrans" cxnId="{BB54BE4D-6586-4D3C-9914-10C59B132197}">
      <dgm:prSet/>
      <dgm:spPr/>
      <dgm:t>
        <a:bodyPr/>
        <a:lstStyle/>
        <a:p>
          <a:endParaRPr lang="en-US"/>
        </a:p>
      </dgm:t>
    </dgm:pt>
    <dgm:pt modelId="{187BEA4B-8950-49DF-8663-AE98C47C179F}">
      <dgm:prSet/>
      <dgm:spPr/>
      <dgm:t>
        <a:bodyPr/>
        <a:lstStyle/>
        <a:p>
          <a:r>
            <a:rPr lang="en-US" dirty="0"/>
            <a:t>Whether Human Supervision needed to train and test (Supervised, Unsupervised , Semi-supervised, Reinforcement Learning )</a:t>
          </a:r>
        </a:p>
      </dgm:t>
    </dgm:pt>
    <dgm:pt modelId="{330C6699-CB3E-4B44-A8E0-EDC475C3C58D}" type="parTrans" cxnId="{9B767074-A16A-40BE-BBE8-B19DD70F3812}">
      <dgm:prSet/>
      <dgm:spPr/>
      <dgm:t>
        <a:bodyPr/>
        <a:lstStyle/>
        <a:p>
          <a:endParaRPr lang="en-US"/>
        </a:p>
      </dgm:t>
    </dgm:pt>
    <dgm:pt modelId="{08D29311-D500-4FFC-A47F-A33EC9E64AE8}" type="sibTrans" cxnId="{9B767074-A16A-40BE-BBE8-B19DD70F3812}">
      <dgm:prSet/>
      <dgm:spPr/>
      <dgm:t>
        <a:bodyPr/>
        <a:lstStyle/>
        <a:p>
          <a:endParaRPr lang="en-US"/>
        </a:p>
      </dgm:t>
    </dgm:pt>
    <dgm:pt modelId="{0C6EC6B2-9C78-403A-9284-241AB634C282}">
      <dgm:prSet/>
      <dgm:spPr/>
      <dgm:t>
        <a:bodyPr/>
        <a:lstStyle/>
        <a:p>
          <a:r>
            <a:rPr lang="en-US"/>
            <a:t>Whether or not Machine can learn incrementally or in a batch ( Online and Batch Learning)</a:t>
          </a:r>
        </a:p>
      </dgm:t>
    </dgm:pt>
    <dgm:pt modelId="{1BFACD3D-45F1-40AA-8FD0-BB28E2CFECAD}" type="parTrans" cxnId="{C800B5C3-26DA-48A4-8582-9815FAAC4030}">
      <dgm:prSet/>
      <dgm:spPr/>
      <dgm:t>
        <a:bodyPr/>
        <a:lstStyle/>
        <a:p>
          <a:endParaRPr lang="en-US"/>
        </a:p>
      </dgm:t>
    </dgm:pt>
    <dgm:pt modelId="{50CDF856-7664-4A5A-9CB1-AD4B1CE916A9}" type="sibTrans" cxnId="{C800B5C3-26DA-48A4-8582-9815FAAC4030}">
      <dgm:prSet/>
      <dgm:spPr/>
      <dgm:t>
        <a:bodyPr/>
        <a:lstStyle/>
        <a:p>
          <a:endParaRPr lang="en-US"/>
        </a:p>
      </dgm:t>
    </dgm:pt>
    <dgm:pt modelId="{DF5B5D46-F0C8-46AB-A2AA-C45E68BC1FFC}">
      <dgm:prSet/>
      <dgm:spPr/>
      <dgm:t>
        <a:bodyPr/>
        <a:lstStyle/>
        <a:p>
          <a:r>
            <a:rPr lang="en-US" dirty="0"/>
            <a:t>Whether New data points are compared against existing data point or detect pattern in training data and build a model ( instance based and Model based) </a:t>
          </a:r>
        </a:p>
      </dgm:t>
    </dgm:pt>
    <dgm:pt modelId="{98545599-9298-4766-9C53-03E7FD0776B3}" type="parTrans" cxnId="{A7E48594-618C-44F5-91E1-BAFDCE705C29}">
      <dgm:prSet/>
      <dgm:spPr/>
      <dgm:t>
        <a:bodyPr/>
        <a:lstStyle/>
        <a:p>
          <a:endParaRPr lang="en-US"/>
        </a:p>
      </dgm:t>
    </dgm:pt>
    <dgm:pt modelId="{176536D2-E2C0-47D4-8450-5F8D1F7F7E7A}" type="sibTrans" cxnId="{A7E48594-618C-44F5-91E1-BAFDCE705C29}">
      <dgm:prSet/>
      <dgm:spPr/>
      <dgm:t>
        <a:bodyPr/>
        <a:lstStyle/>
        <a:p>
          <a:endParaRPr lang="en-US"/>
        </a:p>
      </dgm:t>
    </dgm:pt>
    <dgm:pt modelId="{6E5711FF-0117-4F6B-8B4B-400D4F86A5A0}" type="pres">
      <dgm:prSet presAssocID="{097BCFD8-119C-4C16-9C0E-B403B038FC57}" presName="linear" presStyleCnt="0">
        <dgm:presLayoutVars>
          <dgm:animLvl val="lvl"/>
          <dgm:resizeHandles val="exact"/>
        </dgm:presLayoutVars>
      </dgm:prSet>
      <dgm:spPr/>
    </dgm:pt>
    <dgm:pt modelId="{DB563668-B8C3-49D4-967D-72AF3DC3A6BF}" type="pres">
      <dgm:prSet presAssocID="{65A31280-39C9-4CF6-A70E-93779826C057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A0650A33-D203-4477-8E00-B61C827111BB}" type="pres">
      <dgm:prSet presAssocID="{65A31280-39C9-4CF6-A70E-93779826C057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174BF612-D825-497B-A1F4-D37C91F32A80}" type="presOf" srcId="{0C6EC6B2-9C78-403A-9284-241AB634C282}" destId="{A0650A33-D203-4477-8E00-B61C827111BB}" srcOrd="0" destOrd="1" presId="urn:microsoft.com/office/officeart/2005/8/layout/vList2"/>
    <dgm:cxn modelId="{5E839F64-3DC4-49F0-B7A6-5C30E9A4A373}" type="presOf" srcId="{187BEA4B-8950-49DF-8663-AE98C47C179F}" destId="{A0650A33-D203-4477-8E00-B61C827111BB}" srcOrd="0" destOrd="0" presId="urn:microsoft.com/office/officeart/2005/8/layout/vList2"/>
    <dgm:cxn modelId="{BB54BE4D-6586-4D3C-9914-10C59B132197}" srcId="{097BCFD8-119C-4C16-9C0E-B403B038FC57}" destId="{65A31280-39C9-4CF6-A70E-93779826C057}" srcOrd="0" destOrd="0" parTransId="{C829BD04-8FA6-41F9-860F-993DE3FF994D}" sibTransId="{70F60DF5-9177-47EB-9F4D-35F8C16A904B}"/>
    <dgm:cxn modelId="{F580ED53-9981-473A-A38B-9B945B6D97A8}" type="presOf" srcId="{65A31280-39C9-4CF6-A70E-93779826C057}" destId="{DB563668-B8C3-49D4-967D-72AF3DC3A6BF}" srcOrd="0" destOrd="0" presId="urn:microsoft.com/office/officeart/2005/8/layout/vList2"/>
    <dgm:cxn modelId="{9B767074-A16A-40BE-BBE8-B19DD70F3812}" srcId="{65A31280-39C9-4CF6-A70E-93779826C057}" destId="{187BEA4B-8950-49DF-8663-AE98C47C179F}" srcOrd="0" destOrd="0" parTransId="{330C6699-CB3E-4B44-A8E0-EDC475C3C58D}" sibTransId="{08D29311-D500-4FFC-A47F-A33EC9E64AE8}"/>
    <dgm:cxn modelId="{A7E48594-618C-44F5-91E1-BAFDCE705C29}" srcId="{65A31280-39C9-4CF6-A70E-93779826C057}" destId="{DF5B5D46-F0C8-46AB-A2AA-C45E68BC1FFC}" srcOrd="2" destOrd="0" parTransId="{98545599-9298-4766-9C53-03E7FD0776B3}" sibTransId="{176536D2-E2C0-47D4-8450-5F8D1F7F7E7A}"/>
    <dgm:cxn modelId="{C800B5C3-26DA-48A4-8582-9815FAAC4030}" srcId="{65A31280-39C9-4CF6-A70E-93779826C057}" destId="{0C6EC6B2-9C78-403A-9284-241AB634C282}" srcOrd="1" destOrd="0" parTransId="{1BFACD3D-45F1-40AA-8FD0-BB28E2CFECAD}" sibTransId="{50CDF856-7664-4A5A-9CB1-AD4B1CE916A9}"/>
    <dgm:cxn modelId="{08FAB1E2-61BB-4B74-9D3C-88562BCB3888}" type="presOf" srcId="{DF5B5D46-F0C8-46AB-A2AA-C45E68BC1FFC}" destId="{A0650A33-D203-4477-8E00-B61C827111BB}" srcOrd="0" destOrd="2" presId="urn:microsoft.com/office/officeart/2005/8/layout/vList2"/>
    <dgm:cxn modelId="{050F78EF-FE3A-4E32-80EA-4CF8B138E253}" type="presOf" srcId="{097BCFD8-119C-4C16-9C0E-B403B038FC57}" destId="{6E5711FF-0117-4F6B-8B4B-400D4F86A5A0}" srcOrd="0" destOrd="0" presId="urn:microsoft.com/office/officeart/2005/8/layout/vList2"/>
    <dgm:cxn modelId="{8C70274C-39DF-439A-AB91-0932DA9BA8EB}" type="presParOf" srcId="{6E5711FF-0117-4F6B-8B4B-400D4F86A5A0}" destId="{DB563668-B8C3-49D4-967D-72AF3DC3A6BF}" srcOrd="0" destOrd="0" presId="urn:microsoft.com/office/officeart/2005/8/layout/vList2"/>
    <dgm:cxn modelId="{A5F15822-8038-44B4-B05C-1FA080E43841}" type="presParOf" srcId="{6E5711FF-0117-4F6B-8B4B-400D4F86A5A0}" destId="{A0650A33-D203-4477-8E00-B61C827111BB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BDE8AA-DB72-4ADD-985D-52161C2FB4AC}">
      <dsp:nvSpPr>
        <dsp:cNvPr id="0" name=""/>
        <dsp:cNvSpPr/>
      </dsp:nvSpPr>
      <dsp:spPr>
        <a:xfrm>
          <a:off x="0" y="197353"/>
          <a:ext cx="11347210" cy="79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/>
            <a:t>Machine Learning is the field of study that gives computers the ability to learn </a:t>
          </a:r>
          <a:r>
            <a:rPr lang="en-IN" sz="2000" kern="1200"/>
            <a:t>without being explicitly programmed.  —Arthur Samuel, </a:t>
          </a:r>
          <a:r>
            <a:rPr lang="en-IN" sz="2000" i="1" kern="1200"/>
            <a:t>1959</a:t>
          </a:r>
          <a:endParaRPr lang="en-US" sz="2000" kern="1200"/>
        </a:p>
      </dsp:txBody>
      <dsp:txXfrm>
        <a:off x="38838" y="236191"/>
        <a:ext cx="11269534" cy="717924"/>
      </dsp:txXfrm>
    </dsp:sp>
    <dsp:sp modelId="{F1E80230-070F-4199-8A9F-D35DC2C1AFFD}">
      <dsp:nvSpPr>
        <dsp:cNvPr id="0" name=""/>
        <dsp:cNvSpPr/>
      </dsp:nvSpPr>
      <dsp:spPr>
        <a:xfrm>
          <a:off x="0" y="1050554"/>
          <a:ext cx="11347210" cy="79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A computer program is said to learn from experience E with respect to some task T and some performance measure P, if its performance on T, as measured by P, improves </a:t>
          </a:r>
          <a:r>
            <a:rPr lang="en-IN" sz="2000" kern="1200" dirty="0"/>
            <a:t>with experience E.  —Tom Mitchell, </a:t>
          </a:r>
          <a:r>
            <a:rPr lang="en-IN" sz="2000" i="1" kern="1200" dirty="0"/>
            <a:t>1997</a:t>
          </a:r>
          <a:endParaRPr lang="en-US" sz="2000" kern="1200" dirty="0"/>
        </a:p>
      </dsp:txBody>
      <dsp:txXfrm>
        <a:off x="38838" y="1089392"/>
        <a:ext cx="11269534" cy="71792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B563668-B8C3-49D4-967D-72AF3DC3A6BF}">
      <dsp:nvSpPr>
        <dsp:cNvPr id="0" name=""/>
        <dsp:cNvSpPr/>
      </dsp:nvSpPr>
      <dsp:spPr>
        <a:xfrm>
          <a:off x="0" y="43320"/>
          <a:ext cx="6900512" cy="139229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Machine learning can be classified based on the following :</a:t>
          </a:r>
        </a:p>
      </dsp:txBody>
      <dsp:txXfrm>
        <a:off x="67966" y="111286"/>
        <a:ext cx="6764580" cy="1256367"/>
      </dsp:txXfrm>
    </dsp:sp>
    <dsp:sp modelId="{A0650A33-D203-4477-8E00-B61C827111BB}">
      <dsp:nvSpPr>
        <dsp:cNvPr id="0" name=""/>
        <dsp:cNvSpPr/>
      </dsp:nvSpPr>
      <dsp:spPr>
        <a:xfrm>
          <a:off x="0" y="1435620"/>
          <a:ext cx="6900512" cy="40572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9091" tIns="44450" rIns="248920" bIns="44450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700" kern="1200" dirty="0"/>
            <a:t>Whether Human Supervision needed to train and test (Supervised, Unsupervised , Semi-supervised, Reinforcement Learning )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700" kern="1200"/>
            <a:t>Whether or not Machine can learn incrementally or in a batch ( Online and Batch Learning)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700" kern="1200" dirty="0"/>
            <a:t>Whether New data points are compared against existing data point or detect pattern in training data and build a model ( instance based and Model based) </a:t>
          </a:r>
        </a:p>
      </dsp:txBody>
      <dsp:txXfrm>
        <a:off x="0" y="1435620"/>
        <a:ext cx="6900512" cy="40572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39129-7ACF-321F-0FE8-C8F8DC8EFB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979887-24CE-B8B8-EFA1-366C7DAAB3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D04003-C0B0-9AD6-BD01-D52253A2DE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2E094-77FE-40B1-99EC-C2D7465E1CD7}" type="datetimeFigureOut">
              <a:rPr lang="en-IN" smtClean="0"/>
              <a:t>11-07-2025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67182-3B40-A76F-4EBC-0BF743173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13D0C4-A0E3-92F9-30C3-0744C24D9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741FD-7F09-47A6-B02F-C93CEFF584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52485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9DDAB-2C27-4118-F384-D8C82AC4C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D8E284-7A2C-8CF1-F92E-BFA93A11F6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B56DBB-452D-995E-B01A-B43C1EC2A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2E094-77FE-40B1-99EC-C2D7465E1CD7}" type="datetimeFigureOut">
              <a:rPr lang="en-IN" smtClean="0"/>
              <a:t>11-07-2025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D8BB05-2A21-E63D-CF81-BE6627DBF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F3A4A1-A544-3F2D-2082-CEC511D2C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741FD-7F09-47A6-B02F-C93CEFF584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30359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9782D-AE3E-F763-DC96-52D6508432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CD7CB6-2399-5EE3-FD5A-D448D90409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87CD73-8F18-BFC4-439A-D8CF7A545A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2E094-77FE-40B1-99EC-C2D7465E1CD7}" type="datetimeFigureOut">
              <a:rPr lang="en-IN" smtClean="0"/>
              <a:t>11-07-2025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1F3880-FAB3-FAF4-B119-7A62DE50E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60B4BB-14C2-477D-8A31-EB5DB9EA9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741FD-7F09-47A6-B02F-C93CEFF584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06669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52E76F-176E-2A91-2F92-4FB8BE7A1F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125A79-E6FD-62D7-9D9D-35EB7C9480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DBA52A-3C1E-EC7D-6CE7-DC1C2D9984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41CF18-4184-D9B7-2784-E0571741B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2E094-77FE-40B1-99EC-C2D7465E1CD7}" type="datetimeFigureOut">
              <a:rPr lang="en-IN" smtClean="0"/>
              <a:t>11-07-2025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D87B76-4573-529C-F892-C314C12930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00D8E9-47DC-4CC1-75F5-10125BE2C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741FD-7F09-47A6-B02F-C93CEFF584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2076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14265-7B5B-A247-F549-544521192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22D02C-04AD-B4C5-A717-D70D19AA07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BDF90D-2453-EB36-386E-B6E6035890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63E440-132A-8987-C223-AFAACABAC7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14B6AC0-EF8D-FF14-671D-FDC73AC5BB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4A30F9E-3184-62EF-9240-3BCDA4A9D5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2E094-77FE-40B1-99EC-C2D7465E1CD7}" type="datetimeFigureOut">
              <a:rPr lang="en-IN" smtClean="0"/>
              <a:t>11-07-2025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FB3530-6C78-DC56-842B-88A30C87F8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BAEAF9-B9E4-7E4F-6AAC-0CA97C253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741FD-7F09-47A6-B02F-C93CEFF584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68178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C45E6-919F-6510-3439-394AF5D3F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144A1C-7FC3-D46C-AE62-BD7A79034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2E094-77FE-40B1-99EC-C2D7465E1CD7}" type="datetimeFigureOut">
              <a:rPr lang="en-IN" smtClean="0"/>
              <a:t>11-07-2025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CEFFB7-CC94-064A-9A31-B3A4724D7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7BC354-81EC-3CD4-8A64-EB73D9336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741FD-7F09-47A6-B02F-C93CEFF584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52198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F434B03-730A-1D86-49BC-A64593879E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2E094-77FE-40B1-99EC-C2D7465E1CD7}" type="datetimeFigureOut">
              <a:rPr lang="en-IN" smtClean="0"/>
              <a:t>11-07-2025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8FBC94-4A4D-5535-57DD-5D5774E4BF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9D35A7-B628-60EE-8264-3A82D6C2C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741FD-7F09-47A6-B02F-C93CEFF584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30629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E3C4B-49E1-23F6-4CEA-DACC856361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1FA99C-CDBB-7DA6-7BDD-9DDAB0D161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A6FC16-EE50-6275-6F2A-AE5DDD8A80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74CEAD-88AD-BD94-B2BA-0284AB2242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2E094-77FE-40B1-99EC-C2D7465E1CD7}" type="datetimeFigureOut">
              <a:rPr lang="en-IN" smtClean="0"/>
              <a:t>11-07-2025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584893-B549-CCCD-A244-6FB2211F2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9EF1DB-33F6-72DF-D9FD-A649E3F91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741FD-7F09-47A6-B02F-C93CEFF584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14165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DE694-7282-7335-11DA-EC521D6FCC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F176499-E735-4320-99AE-EEFEF06BC5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6ACEC0-27DB-8111-042A-81A4584B3E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0BD782-63A5-3B63-3D23-C0064FCF0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2E094-77FE-40B1-99EC-C2D7465E1CD7}" type="datetimeFigureOut">
              <a:rPr lang="en-IN" smtClean="0"/>
              <a:t>11-07-2025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26C3C9-3374-6E76-192A-E3783BCCDF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A1A2BB-A172-901D-6F4C-2FF9589DB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741FD-7F09-47A6-B02F-C93CEFF584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09856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E0C5A-5CAF-5276-C71B-CFD734FF5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2279CB-A7AC-0917-CA20-0B4B045018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3E8867-54A0-092D-33D5-8876E0217E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2E094-77FE-40B1-99EC-C2D7465E1CD7}" type="datetimeFigureOut">
              <a:rPr lang="en-IN" smtClean="0"/>
              <a:t>11-07-2025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0FF661-3A38-7C27-0917-6EB3E1D19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FDD1D3-17B3-3A35-1ED2-84932E755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741FD-7F09-47A6-B02F-C93CEFF584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11605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4515C62-4B68-BE32-A975-17833FBEB2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A46A36-01D7-2ACA-BF86-2282ECABDC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E05E89-5AD9-4D79-AC0A-1DFD212827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2E094-77FE-40B1-99EC-C2D7465E1CD7}" type="datetimeFigureOut">
              <a:rPr lang="en-IN" smtClean="0"/>
              <a:t>11-07-2025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A32D8C-C7D0-080C-0AD1-ABAD1C1CE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35923F-C38F-9592-8DD1-9D8E3EEDF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741FD-7F09-47A6-B02F-C93CEFF584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14513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324F313-A020-30C6-B5D4-2377D2E67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C4C3A5-0454-7053-B090-0C782E0727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445991-9B26-4FD9-8F4F-7CAC869B7A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22E094-77FE-40B1-99EC-C2D7465E1CD7}" type="datetimeFigureOut">
              <a:rPr lang="en-IN" smtClean="0"/>
              <a:t>11-07-2025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C879BE-3F02-7E09-389C-C0D0534B3E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857AEB-99D9-1546-E12E-369CD128C5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A741FD-7F09-47A6-B02F-C93CEFF584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495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354E27-814E-743B-4B1E-0E00AF23BE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470008"/>
          </a:xfrm>
        </p:spPr>
        <p:txBody>
          <a:bodyPr>
            <a:normAutofit fontScale="90000"/>
          </a:bodyPr>
          <a:lstStyle/>
          <a:p>
            <a:r>
              <a:rPr lang="en-IN" dirty="0"/>
              <a:t>Machine Learning- Regressions</a:t>
            </a:r>
          </a:p>
        </p:txBody>
      </p:sp>
    </p:spTree>
    <p:extLst>
      <p:ext uri="{BB962C8B-B14F-4D97-AF65-F5344CB8AC3E}">
        <p14:creationId xmlns:p14="http://schemas.microsoft.com/office/powerpoint/2010/main" val="10516820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object 19"/>
          <p:cNvSpPr txBox="1"/>
          <p:nvPr/>
        </p:nvSpPr>
        <p:spPr>
          <a:xfrm>
            <a:off x="312660" y="3000549"/>
            <a:ext cx="11566680" cy="339836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0" tIns="12700" rIns="0" bIns="0" rtlCol="0">
            <a:spAutoFit/>
          </a:bodyPr>
          <a:lstStyle/>
          <a:p>
            <a:r>
              <a:rPr lang="en-GB" sz="2200" dirty="0"/>
              <a:t>Suppose , you want to filter spam emails – this is a Machine Learning program that can learn to flag spam.</a:t>
            </a:r>
          </a:p>
          <a:p>
            <a:endParaRPr lang="en-GB" sz="2200" dirty="0"/>
          </a:p>
          <a:p>
            <a:r>
              <a:rPr lang="en-GB" sz="2200" dirty="0"/>
              <a:t>Machine can learn to identify Spam and not-spam from examples of spam emails , identifies by users) and examples of regular emails. </a:t>
            </a:r>
          </a:p>
          <a:p>
            <a:r>
              <a:rPr lang="en-GB" sz="2200" dirty="0"/>
              <a:t>The examples that the system uses to learn are called the </a:t>
            </a:r>
            <a:r>
              <a:rPr lang="en-GB" sz="2200" i="1" dirty="0"/>
              <a:t>training set</a:t>
            </a:r>
            <a:r>
              <a:rPr lang="en-GB" sz="2200" dirty="0"/>
              <a:t>.  </a:t>
            </a:r>
          </a:p>
          <a:p>
            <a:endParaRPr lang="en-GB" sz="2200" dirty="0"/>
          </a:p>
          <a:p>
            <a:r>
              <a:rPr lang="en-GB" sz="2200" dirty="0"/>
              <a:t>In this case, the task T is to flag spam for new emails, the experience E is the </a:t>
            </a:r>
            <a:r>
              <a:rPr lang="en-GB" sz="2200" i="1" dirty="0"/>
              <a:t>training data</a:t>
            </a:r>
            <a:r>
              <a:rPr lang="en-GB" sz="2200" dirty="0"/>
              <a:t>, and the performance measure P needs to be defined; for example, you can use the ratio of correctly classified emails - this performance measure is called </a:t>
            </a:r>
            <a:r>
              <a:rPr lang="en-GB" sz="2200" i="1" dirty="0"/>
              <a:t>accuracy</a:t>
            </a:r>
            <a:r>
              <a:rPr lang="en-GB" sz="2200" dirty="0"/>
              <a:t>.</a:t>
            </a:r>
            <a:endParaRPr sz="2200" dirty="0">
              <a:latin typeface="Trebuchet MS"/>
              <a:cs typeface="Trebuchet MS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6143625" y="2870835"/>
            <a:ext cx="0" cy="3523615"/>
          </a:xfrm>
          <a:custGeom>
            <a:avLst/>
            <a:gdLst/>
            <a:ahLst/>
            <a:cxnLst/>
            <a:rect l="l" t="t" r="r" b="b"/>
            <a:pathLst>
              <a:path h="3523615">
                <a:moveTo>
                  <a:pt x="0" y="0"/>
                </a:moveTo>
                <a:lnTo>
                  <a:pt x="0" y="3523195"/>
                </a:lnTo>
              </a:path>
            </a:pathLst>
          </a:custGeom>
          <a:ln w="9525">
            <a:solidFill>
              <a:srgbClr val="E7E6E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xfrm>
            <a:off x="312660" y="127601"/>
            <a:ext cx="9982156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241550" algn="ctr">
              <a:lnSpc>
                <a:spcPct val="100000"/>
              </a:lnSpc>
              <a:spcBef>
                <a:spcPts val="95"/>
              </a:spcBef>
            </a:pPr>
            <a:r>
              <a:rPr lang="en-IN" spc="55" dirty="0">
                <a:solidFill>
                  <a:srgbClr val="3E3E3E"/>
                </a:solidFill>
              </a:rPr>
              <a:t>Why do we use machine learning</a:t>
            </a:r>
            <a:endParaRPr spc="145" dirty="0">
              <a:solidFill>
                <a:srgbClr val="3E3E3E"/>
              </a:solidFill>
            </a:endParaRPr>
          </a:p>
        </p:txBody>
      </p:sp>
      <p:graphicFrame>
        <p:nvGraphicFramePr>
          <p:cNvPr id="23" name="object 17">
            <a:extLst>
              <a:ext uri="{FF2B5EF4-FFF2-40B4-BE49-F238E27FC236}">
                <a16:creationId xmlns:a16="http://schemas.microsoft.com/office/drawing/2014/main" id="{ABDF3503-C00E-09EA-BCD2-6B27E6B4EAB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37615448"/>
              </p:ext>
            </p:extLst>
          </p:nvPr>
        </p:nvGraphicFramePr>
        <p:xfrm>
          <a:off x="312660" y="762638"/>
          <a:ext cx="11347211" cy="20435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9B2A773-60E5-12B1-6DEB-AB53DD2472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6656" y="4298652"/>
            <a:ext cx="5757419" cy="2437803"/>
          </a:xfrm>
          <a:solidFill>
            <a:schemeClr val="bg1">
              <a:lumMod val="95000"/>
            </a:schemeClr>
          </a:solidFill>
        </p:spPr>
        <p:txBody>
          <a:bodyPr>
            <a:noAutofit/>
          </a:bodyPr>
          <a:lstStyle/>
          <a:p>
            <a:pPr algn="just"/>
            <a:r>
              <a:rPr lang="en-GB" dirty="0"/>
              <a:t>Traditional method to identify Spam is rule based. </a:t>
            </a:r>
          </a:p>
          <a:p>
            <a:pPr algn="just"/>
            <a:r>
              <a:rPr lang="en-GB" dirty="0"/>
              <a:t>We need to define ‘Spam’ – if email has text “4U,” “credit card,” “free,” and “amazing” in subject.</a:t>
            </a:r>
          </a:p>
          <a:p>
            <a:pPr algn="just"/>
            <a:r>
              <a:rPr lang="en-GB" dirty="0"/>
              <a:t>Long list of rules need to be defined.</a:t>
            </a:r>
            <a:endParaRPr lang="en-IN" dirty="0"/>
          </a:p>
        </p:txBody>
      </p:sp>
      <p:sp>
        <p:nvSpPr>
          <p:cNvPr id="2" name="object 21">
            <a:extLst>
              <a:ext uri="{FF2B5EF4-FFF2-40B4-BE49-F238E27FC236}">
                <a16:creationId xmlns:a16="http://schemas.microsoft.com/office/drawing/2014/main" id="{DEC43CE2-65FA-87CD-469B-60AF33235B00}"/>
              </a:ext>
            </a:extLst>
          </p:cNvPr>
          <p:cNvSpPr txBox="1">
            <a:spLocks/>
          </p:cNvSpPr>
          <p:nvPr/>
        </p:nvSpPr>
        <p:spPr>
          <a:xfrm>
            <a:off x="333375" y="155852"/>
            <a:ext cx="10056534" cy="689291"/>
          </a:xfrm>
          <a:prstGeom prst="rect">
            <a:avLst/>
          </a:prstGeom>
        </p:spPr>
        <p:txBody>
          <a:bodyPr vert="horz" wrap="square" lIns="0" tIns="12065" rIns="0" bIns="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241550" algn="l">
              <a:lnSpc>
                <a:spcPct val="100000"/>
              </a:lnSpc>
              <a:spcBef>
                <a:spcPts val="95"/>
              </a:spcBef>
            </a:pPr>
            <a:r>
              <a:rPr lang="en-IN" sz="4400" spc="55" dirty="0">
                <a:solidFill>
                  <a:srgbClr val="3E3E3E"/>
                </a:solidFill>
              </a:rPr>
              <a:t>Why do we use machine learning</a:t>
            </a:r>
            <a:endParaRPr lang="en-IN" sz="4400" spc="145" dirty="0">
              <a:solidFill>
                <a:srgbClr val="3E3E3E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0C6398-522E-36C6-6F27-DE21E30663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375" y="1134072"/>
            <a:ext cx="5353049" cy="3099833"/>
          </a:xfrm>
          <a:prstGeom prst="rect">
            <a:avLst/>
          </a:prstGeom>
        </p:spPr>
      </p:pic>
      <p:sp>
        <p:nvSpPr>
          <p:cNvPr id="6" name="Subtitle 2">
            <a:extLst>
              <a:ext uri="{FF2B5EF4-FFF2-40B4-BE49-F238E27FC236}">
                <a16:creationId xmlns:a16="http://schemas.microsoft.com/office/drawing/2014/main" id="{712AE1F8-AD1E-A6E2-7DD8-7B4758A9F5C0}"/>
              </a:ext>
            </a:extLst>
          </p:cNvPr>
          <p:cNvSpPr txBox="1">
            <a:spLocks/>
          </p:cNvSpPr>
          <p:nvPr/>
        </p:nvSpPr>
        <p:spPr>
          <a:xfrm>
            <a:off x="6251875" y="4394427"/>
            <a:ext cx="5757419" cy="141922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GB" dirty="0"/>
              <a:t>Same Spam filter problem based on ML automatically learns which word and phases are good predictors of Spam by detecting unusual pattern. </a:t>
            </a: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107FF2F-2378-E77F-02D0-9AB9EAB1D1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7751" y="991738"/>
            <a:ext cx="5445668" cy="3342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68066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888AAF-533F-656E-C6B2-FED83B343D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9319B23-68AF-25D6-846C-81BA7E9DEF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356" y="4394427"/>
            <a:ext cx="6151419" cy="2140934"/>
          </a:xfrm>
          <a:solidFill>
            <a:schemeClr val="bg1">
              <a:lumMod val="95000"/>
            </a:schemeClr>
          </a:solidFill>
        </p:spPr>
        <p:txBody>
          <a:bodyPr>
            <a:noAutofit/>
          </a:bodyPr>
          <a:lstStyle/>
          <a:p>
            <a:pPr algn="just"/>
            <a:r>
              <a:rPr lang="en-GB" sz="2200" dirty="0"/>
              <a:t>Traditional method to identify Spam is rule based. </a:t>
            </a:r>
          </a:p>
          <a:p>
            <a:pPr algn="just"/>
            <a:r>
              <a:rPr lang="en-GB" sz="2200" dirty="0"/>
              <a:t>We need to define ‘Spam’ – if email has text “4U,” “credit card,” “free,” and “amazing” in subject.</a:t>
            </a:r>
          </a:p>
          <a:p>
            <a:pPr algn="just"/>
            <a:r>
              <a:rPr lang="en-GB" sz="2200" dirty="0"/>
              <a:t>Long list of rules need to be defined.</a:t>
            </a:r>
          </a:p>
          <a:p>
            <a:pPr algn="just"/>
            <a:r>
              <a:rPr lang="en-GB" sz="2200" dirty="0"/>
              <a:t>Need to update flag /rules for including new words.</a:t>
            </a:r>
            <a:endParaRPr lang="en-IN" sz="2200" dirty="0"/>
          </a:p>
        </p:txBody>
      </p:sp>
      <p:sp>
        <p:nvSpPr>
          <p:cNvPr id="2" name="object 21">
            <a:extLst>
              <a:ext uri="{FF2B5EF4-FFF2-40B4-BE49-F238E27FC236}">
                <a16:creationId xmlns:a16="http://schemas.microsoft.com/office/drawing/2014/main" id="{4F5D4FBD-5244-D92B-7ACE-7D74BC42D57D}"/>
              </a:ext>
            </a:extLst>
          </p:cNvPr>
          <p:cNvSpPr txBox="1">
            <a:spLocks/>
          </p:cNvSpPr>
          <p:nvPr/>
        </p:nvSpPr>
        <p:spPr>
          <a:xfrm>
            <a:off x="647700" y="242143"/>
            <a:ext cx="10056534" cy="689291"/>
          </a:xfrm>
          <a:prstGeom prst="rect">
            <a:avLst/>
          </a:prstGeom>
        </p:spPr>
        <p:txBody>
          <a:bodyPr vert="horz" wrap="square" lIns="0" tIns="12065" rIns="0" bIns="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241550" algn="l">
              <a:lnSpc>
                <a:spcPct val="100000"/>
              </a:lnSpc>
              <a:spcBef>
                <a:spcPts val="95"/>
              </a:spcBef>
            </a:pPr>
            <a:r>
              <a:rPr lang="en-IN" sz="4400" spc="55" dirty="0">
                <a:solidFill>
                  <a:srgbClr val="3E3E3E"/>
                </a:solidFill>
              </a:rPr>
              <a:t>Why do we use machine learning</a:t>
            </a:r>
            <a:endParaRPr lang="en-IN" sz="4400" spc="145" dirty="0">
              <a:solidFill>
                <a:srgbClr val="3E3E3E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24C277-B36D-65D9-EECA-83E4734C4C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918" y="1113013"/>
            <a:ext cx="5353049" cy="3099833"/>
          </a:xfrm>
          <a:prstGeom prst="rect">
            <a:avLst/>
          </a:prstGeom>
        </p:spPr>
      </p:pic>
      <p:sp>
        <p:nvSpPr>
          <p:cNvPr id="6" name="Subtitle 2">
            <a:extLst>
              <a:ext uri="{FF2B5EF4-FFF2-40B4-BE49-F238E27FC236}">
                <a16:creationId xmlns:a16="http://schemas.microsoft.com/office/drawing/2014/main" id="{ADCF256C-01B1-CB4E-7110-E3CFC1F70EF4}"/>
              </a:ext>
            </a:extLst>
          </p:cNvPr>
          <p:cNvSpPr txBox="1">
            <a:spLocks/>
          </p:cNvSpPr>
          <p:nvPr/>
        </p:nvSpPr>
        <p:spPr>
          <a:xfrm>
            <a:off x="6334125" y="4394428"/>
            <a:ext cx="5785994" cy="214093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GB" sz="2200" dirty="0"/>
              <a:t>Same Spam filter based on ML automatically learns which word and phases are good predictors of Spam by detecting unusual pattern. </a:t>
            </a:r>
          </a:p>
          <a:p>
            <a:pPr algn="just"/>
            <a:r>
              <a:rPr lang="en-IN" sz="2200" dirty="0"/>
              <a:t>ML based Spam automatically notices unusually frequent new word and classify them as Spam.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F0383B1-7A96-9FD6-505A-9FCA42B9EB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7751" y="991738"/>
            <a:ext cx="5445668" cy="3342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38701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1A174-A77D-2E29-EADF-6C2A72809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0473" y="17070"/>
            <a:ext cx="9982200" cy="758825"/>
          </a:xfrm>
        </p:spPr>
        <p:txBody>
          <a:bodyPr/>
          <a:lstStyle/>
          <a:p>
            <a:pPr algn="ctr"/>
            <a:r>
              <a:rPr lang="en-IN" dirty="0"/>
              <a:t>ML automatically adapt changes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642C4A-4C05-A59C-37CC-8F2EF71C5A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957" y="1219200"/>
            <a:ext cx="5537917" cy="245785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507A86E-1E54-2BCC-7098-93A5B29615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8125" y="1009650"/>
            <a:ext cx="5537917" cy="327699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C48BF9B-8E19-5BB9-704B-9AB354CBDD5E}"/>
              </a:ext>
            </a:extLst>
          </p:cNvPr>
          <p:cNvSpPr txBox="1"/>
          <p:nvPr/>
        </p:nvSpPr>
        <p:spPr>
          <a:xfrm>
            <a:off x="165957" y="4144566"/>
            <a:ext cx="11759343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2000" b="0" i="0" u="none" strike="noStrike" baseline="0" dirty="0">
                <a:latin typeface="MinionPro-Regular"/>
              </a:rPr>
              <a:t>To summarize, Machine Learning is great for:</a:t>
            </a:r>
          </a:p>
          <a:p>
            <a:pPr algn="l"/>
            <a:r>
              <a:rPr lang="en-GB" sz="2000" b="0" i="0" u="none" strike="noStrike" baseline="0" dirty="0">
                <a:latin typeface="MinionPro-Regular"/>
              </a:rPr>
              <a:t>• Problems for which existing solutions require a lot of hand-tuning or long lists of rules: one Machine Learning algorithm can often simplify code and perform better.</a:t>
            </a:r>
          </a:p>
          <a:p>
            <a:pPr algn="l"/>
            <a:r>
              <a:rPr lang="en-GB" sz="2000" b="0" i="0" u="none" strike="noStrike" baseline="0" dirty="0">
                <a:latin typeface="MinionPro-Regular"/>
              </a:rPr>
              <a:t>• Complex problems for which there is no good solution at all using a traditional approach: the best Machine Learning techniques can find a solution.</a:t>
            </a:r>
          </a:p>
          <a:p>
            <a:pPr algn="l"/>
            <a:r>
              <a:rPr lang="en-GB" sz="2000" b="0" i="0" u="none" strike="noStrike" baseline="0" dirty="0">
                <a:latin typeface="MinionPro-Regular"/>
              </a:rPr>
              <a:t>• Fluctuating environments: a Machine Learning system can adapt to new data.</a:t>
            </a:r>
          </a:p>
          <a:p>
            <a:pPr algn="l"/>
            <a:r>
              <a:rPr lang="en-GB" sz="2000" b="0" i="0" u="none" strike="noStrike" baseline="0" dirty="0">
                <a:latin typeface="MinionPro-Regular"/>
              </a:rPr>
              <a:t>• Getting insights about complex problems and large amounts of data.</a:t>
            </a:r>
            <a:endParaRPr lang="en-IN" sz="2000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6CE9D09-4E90-B819-9BED-73236D805B72}"/>
              </a:ext>
            </a:extLst>
          </p:cNvPr>
          <p:cNvCxnSpPr/>
          <p:nvPr/>
        </p:nvCxnSpPr>
        <p:spPr>
          <a:xfrm>
            <a:off x="6045628" y="1009650"/>
            <a:ext cx="50372" cy="31349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74253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9A8721-A238-5A19-08DD-4F07082A49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Types of Machine Leraning 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26622588-730D-14AF-A119-06C6E23121E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9349577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450265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0E93C0-3E35-066F-2157-7FD279DC4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Slide Background">
            <a:extLst>
              <a:ext uri="{FF2B5EF4-FFF2-40B4-BE49-F238E27FC236}">
                <a16:creationId xmlns:a16="http://schemas.microsoft.com/office/drawing/2014/main" id="{9E6671AF-110C-4E4D-BEB4-1323A3136D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383E54-77E8-54DC-50CD-0E417AB19E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0862"/>
            <a:ext cx="4889190" cy="212140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dirty="0"/>
              <a:t>Supervised Learning - Classification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BE0F88-A40D-DE29-A55B-F2318D57B4EF}"/>
              </a:ext>
            </a:extLst>
          </p:cNvPr>
          <p:cNvSpPr txBox="1"/>
          <p:nvPr/>
        </p:nvSpPr>
        <p:spPr>
          <a:xfrm>
            <a:off x="4747708" y="69051"/>
            <a:ext cx="7444292" cy="20450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Machine Learning systems can be classified according to the amount and type of supervision they get during training.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In supervised learning, the training data you feed to the algorithm includes the desired solutions, called labels.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6FCC14-B4E3-9F92-F44A-88765181EA2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735"/>
          <a:stretch>
            <a:fillRect/>
          </a:stretch>
        </p:blipFill>
        <p:spPr>
          <a:xfrm>
            <a:off x="20" y="2743201"/>
            <a:ext cx="12191979" cy="4114799"/>
          </a:xfrm>
          <a:prstGeom prst="rect">
            <a:avLst/>
          </a:prstGeom>
          <a:effectLst>
            <a:innerShdw blurRad="190500" dist="127000" dir="16200000">
              <a:prstClr val="black">
                <a:alpha val="19000"/>
              </a:prstClr>
            </a:inn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AB40717-BC64-8FA4-CF3C-344E9C28E586}"/>
              </a:ext>
            </a:extLst>
          </p:cNvPr>
          <p:cNvSpPr txBox="1"/>
          <p:nvPr/>
        </p:nvSpPr>
        <p:spPr>
          <a:xfrm>
            <a:off x="165758" y="2037905"/>
            <a:ext cx="11860484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dirty="0"/>
              <a:t>A typical supervised learning task is classification. The spam filter is a good example of this: it is trained with many example emails along with their class (spam or ham), and it must learn how to classify new emails.</a:t>
            </a:r>
          </a:p>
        </p:txBody>
      </p:sp>
    </p:spTree>
    <p:extLst>
      <p:ext uri="{BB962C8B-B14F-4D97-AF65-F5344CB8AC3E}">
        <p14:creationId xmlns:p14="http://schemas.microsoft.com/office/powerpoint/2010/main" val="6559888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CC81E9-8092-D73F-A128-C4FC01A710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BB0869A-0BE5-B3E9-F73D-2F3691E4D9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597896-B463-4A95-933D-6F01F52F5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070" y="199228"/>
            <a:ext cx="4626325" cy="136072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Supervised Learning –</a:t>
            </a:r>
            <a:br>
              <a:rPr lang="en-US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Regression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23DCAF-3759-495F-AA79-5E05D56D3F4D}"/>
              </a:ext>
            </a:extLst>
          </p:cNvPr>
          <p:cNvSpPr txBox="1"/>
          <p:nvPr/>
        </p:nvSpPr>
        <p:spPr>
          <a:xfrm>
            <a:off x="150070" y="2605572"/>
            <a:ext cx="5626786" cy="31497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Model predict a target numeric value, such as the price of a car, given a set of features (mileage, age, brand, etc.) called predictors. This sort of task is called regression</a:t>
            </a:r>
          </a:p>
          <a:p>
            <a:pPr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en-US" dirty="0"/>
              <a:t>Some regression algorithm can be used for classification as well and vice versa. Logistics regression can be used for classifying into classes.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F4E01E6-A1B6-550D-FAA8-7273D42F22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5538" y="1412488"/>
            <a:ext cx="5837780" cy="3064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16203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2A5AF7-0BF6-D26F-47EE-0B33F3198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68411-FE26-5C47-D5BE-A6DDBA3C8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069" y="40325"/>
            <a:ext cx="9553328" cy="60759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Un</a:t>
            </a:r>
            <a:r>
              <a:rPr lang="en-US" sz="3600" b="1" dirty="0"/>
              <a:t>s</a:t>
            </a:r>
            <a:r>
              <a:rPr lang="en-US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upervised Learning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E474BC-49EF-79F8-BAD2-1958E820EF44}"/>
              </a:ext>
            </a:extLst>
          </p:cNvPr>
          <p:cNvSpPr txBox="1"/>
          <p:nvPr/>
        </p:nvSpPr>
        <p:spPr>
          <a:xfrm>
            <a:off x="150069" y="645459"/>
            <a:ext cx="7767559" cy="552943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No supervision needed – System tries to learn without a teacher.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en-US" sz="2200" dirty="0"/>
              <a:t>Clustering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en-US" sz="2200" dirty="0"/>
              <a:t>-  K-Means </a:t>
            </a:r>
          </a:p>
          <a:p>
            <a:pPr marL="285750" indent="-285750">
              <a:lnSpc>
                <a:spcPct val="120000"/>
              </a:lnSpc>
              <a:spcAft>
                <a:spcPts val="600"/>
              </a:spcAft>
              <a:buFontTx/>
              <a:buChar char="-"/>
            </a:pPr>
            <a:r>
              <a:rPr lang="en-US" sz="2200" dirty="0"/>
              <a:t>DBSCAN </a:t>
            </a:r>
          </a:p>
          <a:p>
            <a:pPr marL="285750" indent="-285750">
              <a:lnSpc>
                <a:spcPct val="120000"/>
              </a:lnSpc>
              <a:spcAft>
                <a:spcPts val="600"/>
              </a:spcAft>
              <a:buFontTx/>
              <a:buChar char="-"/>
            </a:pPr>
            <a:r>
              <a:rPr lang="en-US" sz="2200" dirty="0"/>
              <a:t>Hierarchical Cluster Analysis (HCA) 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en-US" sz="2200" dirty="0"/>
              <a:t>Anomaly detection and novelty detection </a:t>
            </a:r>
          </a:p>
          <a:p>
            <a:pPr marL="285750" indent="-285750">
              <a:lnSpc>
                <a:spcPct val="120000"/>
              </a:lnSpc>
              <a:spcAft>
                <a:spcPts val="600"/>
              </a:spcAft>
              <a:buFontTx/>
              <a:buChar char="-"/>
            </a:pPr>
            <a:r>
              <a:rPr lang="en-US" sz="2200" dirty="0"/>
              <a:t>One-class SVM </a:t>
            </a:r>
          </a:p>
          <a:p>
            <a:pPr marL="285750" indent="-285750">
              <a:lnSpc>
                <a:spcPct val="120000"/>
              </a:lnSpc>
              <a:spcAft>
                <a:spcPts val="600"/>
              </a:spcAft>
              <a:buFontTx/>
              <a:buChar char="-"/>
            </a:pPr>
            <a:r>
              <a:rPr lang="en-US" sz="2200" dirty="0"/>
              <a:t>Isolation Forest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8EADFC-17DD-6C4B-C731-D5361DF60D41}"/>
              </a:ext>
            </a:extLst>
          </p:cNvPr>
          <p:cNvSpPr txBox="1"/>
          <p:nvPr/>
        </p:nvSpPr>
        <p:spPr>
          <a:xfrm>
            <a:off x="150069" y="4972272"/>
            <a:ext cx="6615522" cy="92333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/>
              <a:t>For example, say you have a lot of data about your blog’s visitors. You may want to run a clustering algorithm to try to detect groups of similar visitors </a:t>
            </a: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983853A-7218-1772-EB98-3DA42DB299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1690" y="1296085"/>
            <a:ext cx="5570310" cy="276671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55CFEAF-E21F-981D-D891-861B8CEE5C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5591" y="4087851"/>
            <a:ext cx="5426409" cy="2692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3649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BE7DD7-9479-093F-C8BB-0698C7EC59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E11B5-7050-A708-958B-0D07C9C44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069" y="40325"/>
            <a:ext cx="9553328" cy="60759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b="1" dirty="0"/>
              <a:t>Semi supervised</a:t>
            </a:r>
            <a:r>
              <a:rPr lang="en-US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Learning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07073B-4FD2-B8D3-310D-54E621E2746C}"/>
              </a:ext>
            </a:extLst>
          </p:cNvPr>
          <p:cNvSpPr txBox="1"/>
          <p:nvPr/>
        </p:nvSpPr>
        <p:spPr>
          <a:xfrm>
            <a:off x="150069" y="645459"/>
            <a:ext cx="11651070" cy="552943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en-US" sz="2400" dirty="0"/>
              <a:t>Some photo-hosting services, such as Google Photos, are good examples of this. It classifies or clusters photos into group based on same Person A appears in few photos and Person B appears in other photos.   This is unsupervised. </a:t>
            </a:r>
            <a:endParaRPr lang="en-US" sz="2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66406-4155-EE6A-58EF-B9B95FF657E4}"/>
              </a:ext>
            </a:extLst>
          </p:cNvPr>
          <p:cNvSpPr txBox="1"/>
          <p:nvPr/>
        </p:nvSpPr>
        <p:spPr>
          <a:xfrm>
            <a:off x="354194" y="2843129"/>
            <a:ext cx="4572539" cy="110799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2200" dirty="0"/>
              <a:t>Creating label against faces and then identifying person in photo is a supervised learning.</a:t>
            </a:r>
            <a:endParaRPr lang="en-IN" sz="2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DE2DE28-FB76-836F-EB52-57C6234512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0912" y="2224356"/>
            <a:ext cx="5838552" cy="2846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57953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33818-948C-7657-E8B8-F96BA371D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8309" y="40325"/>
            <a:ext cx="9553328" cy="60759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Bigger Problem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D08795-F523-6597-4BF0-FD921D310436}"/>
              </a:ext>
            </a:extLst>
          </p:cNvPr>
          <p:cNvSpPr txBox="1"/>
          <p:nvPr/>
        </p:nvSpPr>
        <p:spPr>
          <a:xfrm>
            <a:off x="270465" y="1031539"/>
            <a:ext cx="11651070" cy="438374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en-US" sz="2400" dirty="0"/>
              <a:t>Let us take data set of house prices – California 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en-US" sz="2400" dirty="0"/>
              <a:t>This data has metrics such as the population, median income, median housing price, and so on for each block group in California. 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en-US" sz="2400" dirty="0"/>
              <a:t>Block groups are the smallest geographical unit for which the US Census Bureau publishes sample data (a block group typically has a population of 600 to 3,000 people). Those are known as “districts”. 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endParaRPr lang="en-US" sz="2400" dirty="0"/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en-US" sz="2400" dirty="0"/>
              <a:t>What is the business objective? How does company expect to use and benefit from this model?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5339626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922E722-F564-8ED1-B220-D36627CF3F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9103" y="2053639"/>
            <a:ext cx="7609954" cy="2576513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C7129E54-EA03-6BDD-EBB9-93E0B3930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8309" y="70805"/>
            <a:ext cx="9553328" cy="60759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Bigger Problem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4120B56-2230-3A3C-D8FB-35513B2AA251}"/>
              </a:ext>
            </a:extLst>
          </p:cNvPr>
          <p:cNvSpPr txBox="1"/>
          <p:nvPr/>
        </p:nvSpPr>
        <p:spPr>
          <a:xfrm>
            <a:off x="558800" y="855638"/>
            <a:ext cx="11196320" cy="8778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en-US" sz="2200" dirty="0"/>
              <a:t>Assume that model’s output will be fed into another system along with other signals. The downstream system determines whether it is worth investing in a given arear or not.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A618DED-2591-92FF-E817-128CEC2F173E}"/>
              </a:ext>
            </a:extLst>
          </p:cNvPr>
          <p:cNvSpPr txBox="1"/>
          <p:nvPr/>
        </p:nvSpPr>
        <p:spPr>
          <a:xfrm>
            <a:off x="406400" y="4809598"/>
            <a:ext cx="11379200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/>
              <a:t>A sequence of data processing components is called a data pipeline. Pipelines are very common in Machine Learning systems, since there is a lot of data to manipulate and many data transformations to apply.</a:t>
            </a:r>
          </a:p>
          <a:p>
            <a:r>
              <a:rPr lang="en-US" sz="2200" dirty="0"/>
              <a:t>If the data was huge, you could either split your batch learning work across multiple servers (using the MapReduce technique), or you could use an online learning technique instead.</a:t>
            </a:r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5363890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1555</TotalTime>
  <Words>1013</Words>
  <Application>Microsoft Office PowerPoint</Application>
  <PresentationFormat>Widescreen</PresentationFormat>
  <Paragraphs>65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MinionPro-Regular</vt:lpstr>
      <vt:lpstr>Trebuchet MS</vt:lpstr>
      <vt:lpstr>Office Theme</vt:lpstr>
      <vt:lpstr>Machine Learning- Regressions</vt:lpstr>
      <vt:lpstr>Why do we use machine learning</vt:lpstr>
      <vt:lpstr>PowerPoint Presentation</vt:lpstr>
      <vt:lpstr>PowerPoint Presentation</vt:lpstr>
      <vt:lpstr>ML automatically adapt changes</vt:lpstr>
      <vt:lpstr>Types of Machine Leraning </vt:lpstr>
      <vt:lpstr>Supervised Learning - Classification</vt:lpstr>
      <vt:lpstr>Supervised Learning – Regression</vt:lpstr>
      <vt:lpstr>Unsupervised Learning </vt:lpstr>
      <vt:lpstr>Semi supervised Learning </vt:lpstr>
      <vt:lpstr>Bigger Problem </vt:lpstr>
      <vt:lpstr>Bigger Problem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Wise Mind</dc:creator>
  <cp:lastModifiedBy>Subham Mitra</cp:lastModifiedBy>
  <cp:revision>10</cp:revision>
  <dcterms:created xsi:type="dcterms:W3CDTF">2025-07-02T13:37:08Z</dcterms:created>
  <dcterms:modified xsi:type="dcterms:W3CDTF">2025-07-11T09:50:10Z</dcterms:modified>
</cp:coreProperties>
</file>