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72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442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26T18:34:47.7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4 113 4404 0 0,'0'0'6109'0'0,"-4"-38"-3649"0"0,10 7-4828 0 0,17 3-2989 0 0,-2 12 3537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4359C5-76AE-40E9-A452-4B848E5EF4AE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37DCF3-447F-4D7D-83B7-FBBDADA8D2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9657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37DCF3-447F-4D7D-83B7-FBBDADA8D2EB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3188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AA25E-6BC9-C0CA-C585-162147D91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87EB88-2EB3-1FBA-96CD-6F10CB9BED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D5DA2F-F298-9BF3-8A55-46F15197C1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9C105B-EB6C-D5ED-5AAA-1A6D77460E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37DCF3-447F-4D7D-83B7-FBBDADA8D2EB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50849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66E00-54A3-AEF0-636E-E2FF78EB3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0F7CAB-9283-1D39-851C-B0969650A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EB9988-4E4F-8228-2832-53F83556D8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9FBBCA-4D08-C2FE-6F4D-F4356BFD27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37DCF3-447F-4D7D-83B7-FBBDADA8D2EB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59236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31C95-1AA8-26DB-AED4-742A1496EE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DD94D4-6843-FFBB-E755-D141897D5A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76AD8-C516-DA1F-2C4C-84960E0C7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0C5E1-694C-468C-AA94-25D463485489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F261F-B221-1F0E-9533-C568110AB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465824-2359-A200-48B6-ED89298E5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1C912-CCDA-4D54-B807-4DD0174F0C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0506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E740A-A435-B0DC-1A6C-D143F25DF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C2ECC-225F-A594-FEF1-EFA8602B1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E0EDD-B795-652D-FF27-ABCBE875B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0C5E1-694C-468C-AA94-25D463485489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18CFC-4E7A-1B12-F69A-AB65664BD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CC309-15C0-A38E-2A88-16712698D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1C912-CCDA-4D54-B807-4DD0174F0C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6616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78313-A539-2810-ACFB-33672DCB7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7E8FFC-FFF0-A179-7CD3-D06246678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777AE-80DA-0436-971B-EC130397B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0C5E1-694C-468C-AA94-25D463485489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82931-091E-27EE-7AD8-825F359B8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ABE27-B67E-C8B9-9BCC-0B1F3B701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1C912-CCDA-4D54-B807-4DD0174F0C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544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78947-B98D-C130-B856-C4F6BA316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EE8EF-3536-E5C0-F3B8-E3540B7C94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5DD956-B1C3-9911-2CF6-FCF36AC93C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97052A-7EAF-CF98-3FF6-88305F7D4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0C5E1-694C-468C-AA94-25D463485489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4B9A28-634D-C3F5-F55E-54BE44F3C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2994CC-6C14-E9C6-9D5C-8F66BA39B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1C912-CCDA-4D54-B807-4DD0174F0C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6363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C9951-A2CD-19F3-F1EE-102321815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57918A-CEA9-0744-7C7A-B6CC1A3843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3DB459-EF27-915A-BD79-0592A92E8B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9E3C1E-550A-A350-C726-9AC6616860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6E7FD6-2895-5976-BB27-DC8A8B2E63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B6BA9D-A657-9492-F344-5E82E9CFA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0C5E1-694C-468C-AA94-25D463485489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513E38-5460-D25A-75E3-75CAC14BF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9B0885-7EF2-C9E3-198B-1D2B981DB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1C912-CCDA-4D54-B807-4DD0174F0C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9771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C77C7-27B5-80F1-2084-C331D75A2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1F3EB5-41E7-E5A0-D2DC-3B189615F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0C5E1-694C-468C-AA94-25D463485489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82E0AB-94F8-3DB8-BE38-85D32FB43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4B66C3-2EE5-EFFD-9137-DE857AADC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1C912-CCDA-4D54-B807-4DD0174F0C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7596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C98955-792B-EF51-8F43-6755F9832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0C5E1-694C-468C-AA94-25D463485489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49E2E9-24D6-ACF7-F982-42BF306DC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F057D8-E304-F7E1-EDDD-1C6DBDFF7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1C912-CCDA-4D54-B807-4DD0174F0C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528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2F36C-4358-BC2C-43A8-ECC137706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D2F3F-6C77-CBE2-FAF3-356EA3235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EF4EBB-E625-423C-1643-F391E8BA5C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3DCB3F-0078-8348-AC51-870106FF3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0C5E1-694C-468C-AA94-25D463485489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D1962E-5490-A84D-E27F-5C47F013B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6384AD-D97E-990E-FD13-951C99E83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1C912-CCDA-4D54-B807-4DD0174F0C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6319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2BEB9-C504-103D-2E69-73DC191C0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BCCE8B-39A3-611D-B7C2-40FE8D8E9C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7BB1EA-49C4-013E-385A-88D9EF08E4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9925FE-A98F-07ED-C07F-256E4B59B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0C5E1-694C-468C-AA94-25D463485489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87711E-615B-4D8E-C778-8C3DE5BC0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90DBEF-1F01-C0F9-C49A-805C07436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1C912-CCDA-4D54-B807-4DD0174F0C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231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EB20C-ABE4-EB08-68E4-2C086D67A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BE1F6F-BED0-152D-2D64-4B896F6B72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9FEC0-CCD8-BC96-859C-C2ACEB5F9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0C5E1-694C-468C-AA94-25D463485489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AF35D-74FF-CBFC-056D-5EB16A073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34E0C-5870-769A-BCE8-B92C6D70C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1C912-CCDA-4D54-B807-4DD0174F0C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647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2313EE-B70D-EB8A-B59D-6A128E6C4B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409802-A9FF-CA87-BB73-5A68175998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08920-5419-07FD-3F78-E97F35DA9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0C5E1-694C-468C-AA94-25D463485489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135FB1-677A-BDBA-5A2E-B5EFACED6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E09BFF-A862-3493-4C2C-399C859C9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1C912-CCDA-4D54-B807-4DD0174F0C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928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15ECE4-471F-A9B3-D23F-089C5E120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C66476-0E71-E0F7-7048-77C34835FC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A03DC-C6E7-DF31-2323-CBF020483F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C0C5E1-694C-468C-AA94-25D463485489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D45AA-EC0D-C5F8-2DFF-465ABA9772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D3555-1350-AD66-2B33-052EAB04C6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A1C912-CCDA-4D54-B807-4DD0174F0C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1435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54E63-7C8A-3089-0FCC-092EB86E8D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Python basics - Pandas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74D296-0A15-3B31-9285-0F6F481185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5877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D55EE-4906-E37E-E9EA-B8565B228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2726"/>
            <a:ext cx="10341429" cy="707797"/>
          </a:xfrm>
        </p:spPr>
        <p:txBody>
          <a:bodyPr/>
          <a:lstStyle/>
          <a:p>
            <a:r>
              <a:rPr lang="en-IN" dirty="0"/>
              <a:t>Why Pandas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2C1D0-8239-36C7-198A-B1C0286F7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657" y="1433739"/>
            <a:ext cx="11604172" cy="4351338"/>
          </a:xfrm>
        </p:spPr>
        <p:txBody>
          <a:bodyPr/>
          <a:lstStyle/>
          <a:p>
            <a:r>
              <a:rPr lang="en-IN" dirty="0" err="1"/>
              <a:t>Numpy</a:t>
            </a:r>
            <a:r>
              <a:rPr lang="en-IN" dirty="0"/>
              <a:t> construct foundation using arrays, matrices, broadcasting.</a:t>
            </a:r>
          </a:p>
          <a:p>
            <a:r>
              <a:rPr lang="en-IN" dirty="0" err="1"/>
              <a:t>Numpy</a:t>
            </a:r>
            <a:r>
              <a:rPr lang="en-IN" dirty="0"/>
              <a:t> is a array of homogeneous data types. Its features are Multidimensionality, efficient, homogeneity, Vectorization, Mathematical Operations</a:t>
            </a:r>
          </a:p>
          <a:p>
            <a:r>
              <a:rPr lang="en-IN" dirty="0"/>
              <a:t>In real time we don’t get data in homogeneous format – rows and columns like students records is a heterogeneous data (int, string, float)</a:t>
            </a:r>
          </a:p>
          <a:p>
            <a:r>
              <a:rPr lang="en-IN" dirty="0"/>
              <a:t> Pandas is more realistic to deal with structured data</a:t>
            </a:r>
          </a:p>
          <a:p>
            <a:r>
              <a:rPr lang="en-IN" dirty="0"/>
              <a:t>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92772DD-E194-8917-4071-0F8B3E473D50}"/>
                  </a:ext>
                </a:extLst>
              </p14:cNvPr>
              <p14:cNvContentPartPr/>
              <p14:nvPr/>
            </p14:nvContentPartPr>
            <p14:xfrm>
              <a:off x="6096566" y="1708269"/>
              <a:ext cx="18360" cy="410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92772DD-E194-8917-4071-0F8B3E473D5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90446" y="1702149"/>
                <a:ext cx="30600" cy="53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34860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C3AED-54E4-30C5-75DC-9D141BDB0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217714"/>
            <a:ext cx="10439400" cy="669018"/>
          </a:xfrm>
        </p:spPr>
        <p:txBody>
          <a:bodyPr>
            <a:normAutofit fontScale="90000"/>
          </a:bodyPr>
          <a:lstStyle/>
          <a:p>
            <a:r>
              <a:rPr lang="en-IN" dirty="0"/>
              <a:t>Pandas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8F39E6D-B293-7A42-ADCC-81904A563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371" y="1034144"/>
            <a:ext cx="11723915" cy="5606142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import pandas as pd – to import pandas package</a:t>
            </a:r>
          </a:p>
          <a:p>
            <a:r>
              <a:rPr lang="en-IN" dirty="0" err="1"/>
              <a:t>df</a:t>
            </a:r>
            <a:r>
              <a:rPr lang="en-IN" dirty="0"/>
              <a:t>=</a:t>
            </a:r>
            <a:r>
              <a:rPr lang="en-IN" dirty="0" err="1"/>
              <a:t>pd.read_csv</a:t>
            </a:r>
            <a:r>
              <a:rPr lang="en-IN" dirty="0"/>
              <a:t>(&lt;</a:t>
            </a:r>
            <a:r>
              <a:rPr lang="en-IN" dirty="0" err="1"/>
              <a:t>filepath</a:t>
            </a:r>
            <a:r>
              <a:rPr lang="en-IN" dirty="0"/>
              <a:t>&gt;) – to read csv file</a:t>
            </a:r>
          </a:p>
          <a:p>
            <a:r>
              <a:rPr lang="en-IN" dirty="0"/>
              <a:t>Type(</a:t>
            </a:r>
            <a:r>
              <a:rPr lang="en-IN" dirty="0" err="1"/>
              <a:t>df</a:t>
            </a:r>
            <a:r>
              <a:rPr lang="en-IN" dirty="0"/>
              <a:t>)</a:t>
            </a:r>
          </a:p>
          <a:p>
            <a:r>
              <a:rPr lang="en-IN" dirty="0" err="1"/>
              <a:t>Dataframe</a:t>
            </a:r>
            <a:r>
              <a:rPr lang="en-IN" dirty="0"/>
              <a:t> contains  rows (records, datapoint)  and columns  (features,  attributes)</a:t>
            </a:r>
          </a:p>
          <a:p>
            <a:r>
              <a:rPr lang="en-IN" dirty="0"/>
              <a:t>Type  of each column is Series – one dimensional array </a:t>
            </a:r>
          </a:p>
          <a:p>
            <a:r>
              <a:rPr lang="en-IN" dirty="0"/>
              <a:t>Type of rows&amp; columns are  </a:t>
            </a:r>
            <a:r>
              <a:rPr lang="en-IN" dirty="0" err="1"/>
              <a:t>Dataframe</a:t>
            </a:r>
            <a:r>
              <a:rPr lang="en-IN" dirty="0"/>
              <a:t> -  collection of series  is </a:t>
            </a:r>
            <a:r>
              <a:rPr lang="en-IN" dirty="0" err="1"/>
              <a:t>dataframe</a:t>
            </a:r>
            <a:endParaRPr lang="en-IN" dirty="0"/>
          </a:p>
          <a:p>
            <a:r>
              <a:rPr lang="en-IN" dirty="0" err="1"/>
              <a:t>df.head</a:t>
            </a:r>
            <a:r>
              <a:rPr lang="en-IN" dirty="0"/>
              <a:t>() and </a:t>
            </a:r>
            <a:r>
              <a:rPr lang="en-IN" dirty="0" err="1"/>
              <a:t>df.tail</a:t>
            </a:r>
            <a:r>
              <a:rPr lang="en-IN" dirty="0"/>
              <a:t>() return top5 and bottom 5 rows by default </a:t>
            </a:r>
          </a:p>
          <a:p>
            <a:r>
              <a:rPr lang="en-IN" dirty="0" err="1"/>
              <a:t>df.shape</a:t>
            </a:r>
            <a:endParaRPr lang="en-IN" dirty="0"/>
          </a:p>
          <a:p>
            <a:r>
              <a:rPr lang="en-IN" dirty="0" err="1"/>
              <a:t>df.columns</a:t>
            </a:r>
            <a:r>
              <a:rPr lang="en-IN" dirty="0"/>
              <a:t> and </a:t>
            </a:r>
            <a:r>
              <a:rPr lang="en-IN" dirty="0" err="1"/>
              <a:t>df.keys</a:t>
            </a:r>
            <a:r>
              <a:rPr lang="en-IN" dirty="0"/>
              <a:t>() returns all keys, columns and attributes in </a:t>
            </a:r>
            <a:r>
              <a:rPr lang="en-IN" dirty="0" err="1"/>
              <a:t>dataframe</a:t>
            </a:r>
            <a:endParaRPr lang="en-IN" dirty="0"/>
          </a:p>
          <a:p>
            <a:r>
              <a:rPr lang="en-IN" dirty="0" err="1"/>
              <a:t>df</a:t>
            </a:r>
            <a:r>
              <a:rPr lang="en-IN" dirty="0"/>
              <a:t>[&lt;column name&gt;] – returns data from one column</a:t>
            </a:r>
          </a:p>
          <a:p>
            <a:r>
              <a:rPr lang="en-IN" dirty="0" err="1"/>
              <a:t>df</a:t>
            </a:r>
            <a:r>
              <a:rPr lang="en-IN" dirty="0"/>
              <a:t>[&lt;column name&gt;].head(n) –first n rows from given column</a:t>
            </a:r>
          </a:p>
          <a:p>
            <a:r>
              <a:rPr lang="en-IN" dirty="0" err="1"/>
              <a:t>df</a:t>
            </a:r>
            <a:r>
              <a:rPr lang="en-IN" dirty="0"/>
              <a:t>[&lt;column1&gt;, &lt;column2&gt;] -  multiple columns</a:t>
            </a:r>
          </a:p>
        </p:txBody>
      </p:sp>
    </p:spTree>
    <p:extLst>
      <p:ext uri="{BB962C8B-B14F-4D97-AF65-F5344CB8AC3E}">
        <p14:creationId xmlns:p14="http://schemas.microsoft.com/office/powerpoint/2010/main" val="1868119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79A4E-3008-3119-E2A6-85B1C8503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1932"/>
          </a:xfrm>
        </p:spPr>
        <p:txBody>
          <a:bodyPr>
            <a:normAutofit fontScale="90000"/>
          </a:bodyPr>
          <a:lstStyle/>
          <a:p>
            <a:r>
              <a:rPr lang="en-IN" dirty="0"/>
              <a:t>Pandas- column operation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1CB45FB-78F1-47D9-02FC-062025A26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586" y="1034144"/>
            <a:ext cx="11636828" cy="5458730"/>
          </a:xfrm>
        </p:spPr>
        <p:txBody>
          <a:bodyPr>
            <a:normAutofit/>
          </a:bodyPr>
          <a:lstStyle/>
          <a:p>
            <a:r>
              <a:rPr lang="en-IN" dirty="0" err="1"/>
              <a:t>df</a:t>
            </a:r>
            <a:r>
              <a:rPr lang="en-IN" dirty="0"/>
              <a:t>[&lt;column1&gt;, &lt;column2&gt;].unique()  -  returns unique values from col</a:t>
            </a:r>
          </a:p>
          <a:p>
            <a:r>
              <a:rPr lang="en-IN" dirty="0" err="1"/>
              <a:t>len</a:t>
            </a:r>
            <a:r>
              <a:rPr lang="en-IN" dirty="0"/>
              <a:t>(</a:t>
            </a:r>
            <a:r>
              <a:rPr lang="en-IN" dirty="0" err="1"/>
              <a:t>df</a:t>
            </a:r>
            <a:r>
              <a:rPr lang="en-IN" dirty="0"/>
              <a:t>[&lt;column1&gt;, &lt;column2&gt;].unique()) – returns number of unique values</a:t>
            </a:r>
          </a:p>
          <a:p>
            <a:r>
              <a:rPr lang="en-IN" dirty="0" err="1"/>
              <a:t>df</a:t>
            </a:r>
            <a:r>
              <a:rPr lang="en-IN" dirty="0"/>
              <a:t>[&lt;column&gt;].</a:t>
            </a:r>
            <a:r>
              <a:rPr lang="en-IN" dirty="0" err="1"/>
              <a:t>nunique</a:t>
            </a:r>
            <a:r>
              <a:rPr lang="en-IN" dirty="0"/>
              <a:t>() – number of unique values </a:t>
            </a:r>
          </a:p>
          <a:p>
            <a:r>
              <a:rPr lang="en-IN" dirty="0" err="1"/>
              <a:t>df</a:t>
            </a:r>
            <a:r>
              <a:rPr lang="en-IN" dirty="0"/>
              <a:t>[&lt;column&gt;].</a:t>
            </a:r>
            <a:r>
              <a:rPr lang="en-IN" dirty="0" err="1"/>
              <a:t>value_counts</a:t>
            </a:r>
            <a:r>
              <a:rPr lang="en-IN" dirty="0"/>
              <a:t>() -  Count for each value in column in descending order</a:t>
            </a:r>
          </a:p>
          <a:p>
            <a:r>
              <a:rPr lang="en-IN" dirty="0" err="1"/>
              <a:t>df.rename</a:t>
            </a:r>
            <a:r>
              <a:rPr lang="en-IN" dirty="0"/>
              <a:t>(columns =  {‘</a:t>
            </a:r>
            <a:r>
              <a:rPr lang="en-IN" dirty="0" err="1"/>
              <a:t>old_column</a:t>
            </a:r>
            <a:r>
              <a:rPr lang="en-IN" dirty="0"/>
              <a:t> name’: ‘new column name’, …  })</a:t>
            </a:r>
          </a:p>
          <a:p>
            <a:r>
              <a:rPr lang="en-IN" dirty="0"/>
              <a:t>By default rename  does not change original </a:t>
            </a:r>
            <a:r>
              <a:rPr lang="en-IN" dirty="0" err="1"/>
              <a:t>dataframe</a:t>
            </a:r>
            <a:r>
              <a:rPr lang="en-IN" dirty="0"/>
              <a:t> but using implicit=true will change the original </a:t>
            </a:r>
            <a:r>
              <a:rPr lang="en-IN" dirty="0" err="1"/>
              <a:t>dataframe</a:t>
            </a:r>
            <a:endParaRPr lang="en-IN" dirty="0"/>
          </a:p>
          <a:p>
            <a:r>
              <a:rPr lang="en-IN" dirty="0" err="1"/>
              <a:t>df.rename</a:t>
            </a:r>
            <a:r>
              <a:rPr lang="en-IN" dirty="0"/>
              <a:t>(columns =  {‘</a:t>
            </a:r>
            <a:r>
              <a:rPr lang="en-IN" dirty="0" err="1"/>
              <a:t>old_column</a:t>
            </a:r>
            <a:r>
              <a:rPr lang="en-IN" dirty="0"/>
              <a:t> name’: ‘new column name’, …  }, implicit=True)</a:t>
            </a:r>
          </a:p>
        </p:txBody>
      </p:sp>
    </p:spTree>
    <p:extLst>
      <p:ext uri="{BB962C8B-B14F-4D97-AF65-F5344CB8AC3E}">
        <p14:creationId xmlns:p14="http://schemas.microsoft.com/office/powerpoint/2010/main" val="1495218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22DD5-A580-F106-29F9-29EF362B3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AAA0D-DA85-CF66-6668-7543ADCBA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1932"/>
          </a:xfrm>
        </p:spPr>
        <p:txBody>
          <a:bodyPr>
            <a:normAutofit fontScale="90000"/>
          </a:bodyPr>
          <a:lstStyle/>
          <a:p>
            <a:r>
              <a:rPr lang="en-IN" dirty="0"/>
              <a:t>Pandas- Column  operations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9999DB5-3A2D-A451-7257-DCA04B8DC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586" y="1034144"/>
            <a:ext cx="11636828" cy="5458730"/>
          </a:xfrm>
        </p:spPr>
        <p:txBody>
          <a:bodyPr>
            <a:normAutofit/>
          </a:bodyPr>
          <a:lstStyle/>
          <a:p>
            <a:r>
              <a:rPr lang="en-IN" dirty="0"/>
              <a:t> To change column name we  can use axis=1 (horizontal direction)</a:t>
            </a:r>
          </a:p>
          <a:p>
            <a:r>
              <a:rPr lang="en-IN" dirty="0" err="1"/>
              <a:t>df.rename</a:t>
            </a:r>
            <a:r>
              <a:rPr lang="en-IN" dirty="0"/>
              <a:t>({‘</a:t>
            </a:r>
            <a:r>
              <a:rPr lang="en-IN" dirty="0" err="1"/>
              <a:t>column_name</a:t>
            </a:r>
            <a:r>
              <a:rPr lang="en-IN" dirty="0"/>
              <a:t>’ : ‘new name’, ….}, </a:t>
            </a:r>
            <a:r>
              <a:rPr lang="en-IN" dirty="0" err="1"/>
              <a:t>inplace</a:t>
            </a:r>
            <a:r>
              <a:rPr lang="en-IN" dirty="0"/>
              <a:t>=True, axis=1)</a:t>
            </a:r>
          </a:p>
          <a:p>
            <a:r>
              <a:rPr lang="en-IN" dirty="0" err="1"/>
              <a:t>df.drop</a:t>
            </a:r>
            <a:r>
              <a:rPr lang="en-IN" dirty="0"/>
              <a:t>(columns=[‘col1’,’col2’]) or </a:t>
            </a:r>
            <a:r>
              <a:rPr lang="en-IN" dirty="0" err="1"/>
              <a:t>df.drop</a:t>
            </a:r>
            <a:r>
              <a:rPr lang="en-IN" dirty="0"/>
              <a:t>(‘</a:t>
            </a:r>
            <a:r>
              <a:rPr lang="en-IN" dirty="0" err="1"/>
              <a:t>column’,axis</a:t>
            </a:r>
            <a:r>
              <a:rPr lang="en-IN" dirty="0"/>
              <a:t>=1) – drop columns without changing original </a:t>
            </a:r>
            <a:r>
              <a:rPr lang="en-IN" dirty="0" err="1"/>
              <a:t>dataframe</a:t>
            </a:r>
            <a:endParaRPr lang="en-IN" dirty="0"/>
          </a:p>
          <a:p>
            <a:r>
              <a:rPr lang="en-IN" dirty="0" err="1"/>
              <a:t>df.drop</a:t>
            </a:r>
            <a:r>
              <a:rPr lang="en-IN" dirty="0"/>
              <a:t>(‘column’,</a:t>
            </a:r>
            <a:r>
              <a:rPr lang="en-IN" dirty="0" err="1"/>
              <a:t>inplace</a:t>
            </a:r>
            <a:r>
              <a:rPr lang="en-IN" dirty="0"/>
              <a:t>=</a:t>
            </a:r>
            <a:r>
              <a:rPr lang="en-IN" dirty="0" err="1"/>
              <a:t>True,axis</a:t>
            </a:r>
            <a:r>
              <a:rPr lang="en-IN" dirty="0"/>
              <a:t>=1)</a:t>
            </a:r>
          </a:p>
          <a:p>
            <a:r>
              <a:rPr lang="en-IN" dirty="0"/>
              <a:t>df.year+7= </a:t>
            </a:r>
            <a:r>
              <a:rPr lang="en-IN" dirty="0" err="1"/>
              <a:t>df</a:t>
            </a:r>
            <a:r>
              <a:rPr lang="en-IN" dirty="0"/>
              <a:t>[‘year’]+7  -- adding  new column with a </a:t>
            </a:r>
            <a:r>
              <a:rPr lang="en-IN" dirty="0" err="1"/>
              <a:t>vertorize</a:t>
            </a:r>
            <a:r>
              <a:rPr lang="en-IN" dirty="0"/>
              <a:t> operation on year column</a:t>
            </a:r>
          </a:p>
          <a:p>
            <a:r>
              <a:rPr lang="en-IN" dirty="0" err="1"/>
              <a:t>df</a:t>
            </a:r>
            <a:r>
              <a:rPr lang="en-IN" dirty="0"/>
              <a:t>[‘</a:t>
            </a:r>
            <a:r>
              <a:rPr lang="en-IN" dirty="0" err="1"/>
              <a:t>new_col</a:t>
            </a:r>
            <a:r>
              <a:rPr lang="en-IN" dirty="0"/>
              <a:t>’]=‘’  – adda new empty  column</a:t>
            </a:r>
          </a:p>
          <a:p>
            <a:r>
              <a:rPr lang="en-IN" dirty="0" err="1"/>
              <a:t>df</a:t>
            </a:r>
            <a:r>
              <a:rPr lang="en-IN" dirty="0"/>
              <a:t>[‘</a:t>
            </a:r>
            <a:r>
              <a:rPr lang="en-IN" dirty="0" err="1"/>
              <a:t>new_col</a:t>
            </a:r>
            <a:r>
              <a:rPr lang="en-IN" dirty="0"/>
              <a:t>’]= [for I in range (n)]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6714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34955-5F2B-EB0E-013B-FD53FB348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D59DC-7F8A-14DD-1B99-189777979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1932"/>
          </a:xfrm>
        </p:spPr>
        <p:txBody>
          <a:bodyPr>
            <a:normAutofit fontScale="90000"/>
          </a:bodyPr>
          <a:lstStyle/>
          <a:p>
            <a:r>
              <a:rPr lang="en-IN" dirty="0"/>
              <a:t>Pandas- Row  operations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329BD7A-4431-9F54-397E-23AEB9799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586" y="1034144"/>
            <a:ext cx="11636828" cy="5458730"/>
          </a:xfrm>
        </p:spPr>
        <p:txBody>
          <a:bodyPr>
            <a:normAutofit/>
          </a:bodyPr>
          <a:lstStyle/>
          <a:p>
            <a:r>
              <a:rPr lang="en-IN" dirty="0" err="1"/>
              <a:t>df.index</a:t>
            </a:r>
            <a:r>
              <a:rPr lang="en-IN" dirty="0"/>
              <a:t> – return Range index (0 to n-1)</a:t>
            </a:r>
          </a:p>
          <a:p>
            <a:r>
              <a:rPr lang="en-IN" dirty="0" err="1"/>
              <a:t>df.index</a:t>
            </a:r>
            <a:r>
              <a:rPr lang="en-IN" dirty="0"/>
              <a:t>=list(range(1,n))</a:t>
            </a:r>
          </a:p>
          <a:p>
            <a:r>
              <a:rPr lang="en-IN" dirty="0" err="1"/>
              <a:t>df.index</a:t>
            </a:r>
            <a:r>
              <a:rPr lang="en-IN" dirty="0"/>
              <a:t>=list(range(1,df.shape[0]+1)) – changes index from 1 to n and </a:t>
            </a:r>
            <a:r>
              <a:rPr lang="en-IN" dirty="0" err="1"/>
              <a:t>df.shape</a:t>
            </a:r>
            <a:r>
              <a:rPr lang="en-IN" dirty="0"/>
              <a:t> returns rows</a:t>
            </a:r>
          </a:p>
          <a:p>
            <a:r>
              <a:rPr lang="en-IN" dirty="0"/>
              <a:t>Explicit indices are  visible to user </a:t>
            </a:r>
          </a:p>
          <a:p>
            <a:r>
              <a:rPr lang="en-IN" dirty="0"/>
              <a:t>Implicit indices that  pandas use to store start from 0 to n-1</a:t>
            </a:r>
          </a:p>
          <a:p>
            <a:r>
              <a:rPr lang="en-IN" dirty="0"/>
              <a:t> </a:t>
            </a:r>
            <a:r>
              <a:rPr lang="en-IN" dirty="0" err="1"/>
              <a:t>df</a:t>
            </a:r>
            <a:r>
              <a:rPr lang="en-IN" dirty="0"/>
              <a:t>[0] – returns error – key error as it is searching column name with 0  </a:t>
            </a:r>
          </a:p>
          <a:p>
            <a:r>
              <a:rPr lang="en-IN" dirty="0" err="1"/>
              <a:t>df</a:t>
            </a:r>
            <a:r>
              <a:rPr lang="en-IN" dirty="0"/>
              <a:t>[0:4] – returns 4 rows – slicing search for rows</a:t>
            </a:r>
          </a:p>
          <a:p>
            <a:r>
              <a:rPr lang="en-IN" dirty="0"/>
              <a:t>In a series  if we use indexing it uses explicit indexing (for a single index) </a:t>
            </a:r>
          </a:p>
          <a:p>
            <a:r>
              <a:rPr lang="en-IN" dirty="0"/>
              <a:t>Series[6:16] – start with 7 as using implicit indexing 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7008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955A1-8518-DDF0-2703-9C7FDBE29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B71F5-6B3D-D3B1-4C26-0B46C19A5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1932"/>
          </a:xfrm>
        </p:spPr>
        <p:txBody>
          <a:bodyPr>
            <a:normAutofit fontScale="90000"/>
          </a:bodyPr>
          <a:lstStyle/>
          <a:p>
            <a:r>
              <a:rPr lang="en-IN" dirty="0"/>
              <a:t>Pandas- Row  operations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5DC94C5-E13D-0B6B-D3A7-6C8F2F9819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586" y="1034144"/>
            <a:ext cx="11636828" cy="54587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Loc and </a:t>
            </a:r>
            <a:r>
              <a:rPr lang="en-IN" dirty="0" err="1"/>
              <a:t>iloc</a:t>
            </a:r>
            <a:r>
              <a:rPr lang="en-IN" dirty="0"/>
              <a:t> separates explicit and implicit index</a:t>
            </a:r>
          </a:p>
          <a:p>
            <a:r>
              <a:rPr lang="en-IN" dirty="0" err="1"/>
              <a:t>df.loc</a:t>
            </a:r>
            <a:r>
              <a:rPr lang="en-IN" dirty="0"/>
              <a:t>[1] – use explicit index – first row</a:t>
            </a:r>
          </a:p>
          <a:p>
            <a:r>
              <a:rPr lang="en-IN" dirty="0"/>
              <a:t> </a:t>
            </a:r>
            <a:r>
              <a:rPr lang="en-IN" dirty="0" err="1"/>
              <a:t>df.iloc</a:t>
            </a:r>
            <a:r>
              <a:rPr lang="en-IN" dirty="0"/>
              <a:t>[0] – use implicit index – first row</a:t>
            </a:r>
          </a:p>
          <a:p>
            <a:r>
              <a:rPr lang="en-IN" dirty="0" err="1"/>
              <a:t>df.iloc</a:t>
            </a:r>
            <a:r>
              <a:rPr lang="en-IN" dirty="0"/>
              <a:t>[1] – returns 2</a:t>
            </a:r>
            <a:r>
              <a:rPr lang="en-IN" baseline="30000" dirty="0"/>
              <a:t>nd</a:t>
            </a:r>
            <a:r>
              <a:rPr lang="en-IN" dirty="0"/>
              <a:t> row</a:t>
            </a:r>
          </a:p>
          <a:p>
            <a:r>
              <a:rPr lang="en-IN" dirty="0" err="1"/>
              <a:t>df.iloc</a:t>
            </a:r>
            <a:r>
              <a:rPr lang="en-IN" dirty="0"/>
              <a:t>[3:5] – return 4 and 5 row – does not include end value – 2 rows</a:t>
            </a:r>
          </a:p>
          <a:p>
            <a:r>
              <a:rPr lang="en-IN" dirty="0" err="1"/>
              <a:t>df.loc</a:t>
            </a:r>
            <a:r>
              <a:rPr lang="en-IN" dirty="0"/>
              <a:t>[3:5] – return 3 and 5 row – include start and end value – 3 rows</a:t>
            </a:r>
          </a:p>
          <a:p>
            <a:r>
              <a:rPr lang="en-IN" dirty="0"/>
              <a:t>We can change starting index :</a:t>
            </a:r>
          </a:p>
          <a:p>
            <a:pPr lvl="1"/>
            <a:r>
              <a:rPr lang="en-IN" dirty="0" err="1"/>
              <a:t>New_index</a:t>
            </a:r>
            <a:r>
              <a:rPr lang="en-IN" dirty="0"/>
              <a:t>=</a:t>
            </a:r>
            <a:r>
              <a:rPr lang="en-IN" dirty="0" err="1"/>
              <a:t>np.arrange</a:t>
            </a:r>
            <a:r>
              <a:rPr lang="en-IN" dirty="0"/>
              <a:t>(10,n)</a:t>
            </a:r>
          </a:p>
          <a:p>
            <a:pPr lvl="1"/>
            <a:r>
              <a:rPr lang="en-IN" dirty="0" err="1"/>
              <a:t>df.index</a:t>
            </a:r>
            <a:r>
              <a:rPr lang="en-IN" dirty="0"/>
              <a:t>=</a:t>
            </a:r>
            <a:r>
              <a:rPr lang="en-IN" dirty="0" err="1"/>
              <a:t>new_index</a:t>
            </a:r>
            <a:r>
              <a:rPr lang="en-IN" dirty="0"/>
              <a:t>  -- will change starting index to 10</a:t>
            </a:r>
          </a:p>
          <a:p>
            <a:endParaRPr lang="en-IN" dirty="0"/>
          </a:p>
          <a:p>
            <a:r>
              <a:rPr lang="en-IN" dirty="0" err="1"/>
              <a:t>iloc</a:t>
            </a:r>
            <a:r>
              <a:rPr lang="en-IN" dirty="0"/>
              <a:t> woks with negative indexing but loc does not work with negative index</a:t>
            </a:r>
          </a:p>
        </p:txBody>
      </p:sp>
    </p:spTree>
    <p:extLst>
      <p:ext uri="{BB962C8B-B14F-4D97-AF65-F5344CB8AC3E}">
        <p14:creationId xmlns:p14="http://schemas.microsoft.com/office/powerpoint/2010/main" val="359813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B4772-A9A6-E1F4-92B6-EAB6C9D30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52552-9040-76FC-4617-57C11D9AB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1932"/>
          </a:xfrm>
        </p:spPr>
        <p:txBody>
          <a:bodyPr>
            <a:normAutofit fontScale="90000"/>
          </a:bodyPr>
          <a:lstStyle/>
          <a:p>
            <a:r>
              <a:rPr lang="en-IN" dirty="0"/>
              <a:t>Pandas- loc &amp; </a:t>
            </a:r>
            <a:r>
              <a:rPr lang="en-IN" dirty="0" err="1"/>
              <a:t>iloc</a:t>
            </a:r>
            <a:endParaRPr lang="en-IN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1B98A45-EBAD-8865-6913-46A3A3205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586" y="1034144"/>
            <a:ext cx="11636828" cy="54587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Explicit indexing is needed when we need define any column as index column. It does not need unique indexing.</a:t>
            </a:r>
          </a:p>
          <a:p>
            <a:pPr marL="0" indent="0">
              <a:buNone/>
            </a:pPr>
            <a:r>
              <a:rPr lang="en-IN" dirty="0" err="1"/>
              <a:t>tmp</a:t>
            </a:r>
            <a:r>
              <a:rPr lang="en-IN" dirty="0"/>
              <a:t> = </a:t>
            </a:r>
            <a:r>
              <a:rPr lang="en-IN" dirty="0" err="1"/>
              <a:t>df.set_index</a:t>
            </a:r>
            <a:r>
              <a:rPr lang="en-IN" dirty="0"/>
              <a:t>(‘column1’)   -- it will country as index column explicitly irrespective of its uniqueness. </a:t>
            </a:r>
          </a:p>
          <a:p>
            <a:pPr marL="0" indent="0">
              <a:buNone/>
            </a:pPr>
            <a:r>
              <a:rPr lang="en-IN" dirty="0" err="1"/>
              <a:t>tmp.loc</a:t>
            </a:r>
            <a:r>
              <a:rPr lang="en-IN" dirty="0"/>
              <a:t>[‘column1_value’]  will return value with column value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Implicit index is always unique value </a:t>
            </a:r>
          </a:p>
          <a:p>
            <a:pPr marL="0" indent="0">
              <a:buNone/>
            </a:pPr>
            <a:r>
              <a:rPr lang="en-IN" dirty="0" err="1"/>
              <a:t>df.reset_index</a:t>
            </a:r>
            <a:r>
              <a:rPr lang="en-IN" dirty="0"/>
              <a:t>() – reset index to default start with 0 to n-1 </a:t>
            </a:r>
          </a:p>
          <a:p>
            <a:pPr lvl="1"/>
            <a:r>
              <a:rPr lang="en-IN" dirty="0"/>
              <a:t>This keeps  both new </a:t>
            </a:r>
            <a:r>
              <a:rPr lang="en-IN" dirty="0" err="1"/>
              <a:t>indexand</a:t>
            </a:r>
            <a:r>
              <a:rPr lang="en-IN" dirty="0"/>
              <a:t> old index columns</a:t>
            </a:r>
          </a:p>
          <a:p>
            <a:pPr lvl="1"/>
            <a:r>
              <a:rPr lang="en-IN" dirty="0"/>
              <a:t>To avoid old index columns we can use </a:t>
            </a:r>
            <a:r>
              <a:rPr lang="en-IN" dirty="0" err="1"/>
              <a:t>df.reset_index</a:t>
            </a:r>
            <a:r>
              <a:rPr lang="en-IN" dirty="0"/>
              <a:t>(</a:t>
            </a:r>
            <a:r>
              <a:rPr lang="en-IN" dirty="0" err="1"/>
              <a:t>inplace</a:t>
            </a:r>
            <a:r>
              <a:rPr lang="en-IN" dirty="0"/>
              <a:t>=True, drop=True)</a:t>
            </a:r>
          </a:p>
        </p:txBody>
      </p:sp>
    </p:spTree>
    <p:extLst>
      <p:ext uri="{BB962C8B-B14F-4D97-AF65-F5344CB8AC3E}">
        <p14:creationId xmlns:p14="http://schemas.microsoft.com/office/powerpoint/2010/main" val="3215705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9AD03-CAE3-E63F-C9AA-74A60744E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E6641-9067-F8FE-E30A-EA49D5677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057" y="158297"/>
            <a:ext cx="10515600" cy="581932"/>
          </a:xfrm>
        </p:spPr>
        <p:txBody>
          <a:bodyPr>
            <a:normAutofit fontScale="90000"/>
          </a:bodyPr>
          <a:lstStyle/>
          <a:p>
            <a:r>
              <a:rPr lang="en-IN" dirty="0"/>
              <a:t>Pandas- insert and drop rows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050D0F1-FF0E-733C-8D19-979E496720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586" y="740229"/>
            <a:ext cx="11674928" cy="575264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To add new rows we can use</a:t>
            </a:r>
          </a:p>
          <a:p>
            <a:pPr marL="0" indent="0">
              <a:buNone/>
            </a:pPr>
            <a:r>
              <a:rPr lang="en-IN" dirty="0" err="1"/>
              <a:t>df.loc</a:t>
            </a:r>
            <a:r>
              <a:rPr lang="en-IN" dirty="0"/>
              <a:t>[</a:t>
            </a:r>
            <a:r>
              <a:rPr lang="en-IN" dirty="0" err="1"/>
              <a:t>len</a:t>
            </a:r>
            <a:r>
              <a:rPr lang="en-IN" dirty="0"/>
              <a:t>(</a:t>
            </a:r>
            <a:r>
              <a:rPr lang="en-IN" dirty="0" err="1"/>
              <a:t>df</a:t>
            </a:r>
            <a:r>
              <a:rPr lang="en-IN" dirty="0"/>
              <a:t>)] = [col1,col2,….]</a:t>
            </a:r>
          </a:p>
          <a:p>
            <a:pPr marL="0" indent="0">
              <a:buNone/>
            </a:pPr>
            <a:r>
              <a:rPr lang="en-IN" dirty="0"/>
              <a:t>   </a:t>
            </a:r>
            <a:r>
              <a:rPr lang="en-IN" dirty="0" err="1"/>
              <a:t>len</a:t>
            </a:r>
            <a:r>
              <a:rPr lang="en-IN" dirty="0"/>
              <a:t>(</a:t>
            </a:r>
            <a:r>
              <a:rPr lang="en-IN" dirty="0" err="1"/>
              <a:t>df</a:t>
            </a:r>
            <a:r>
              <a:rPr lang="en-IN" dirty="0"/>
              <a:t>) return the last +1 position of  data so that new row can be created  </a:t>
            </a:r>
          </a:p>
          <a:p>
            <a:pPr marL="0" indent="0">
              <a:buNone/>
            </a:pPr>
            <a:r>
              <a:rPr lang="en-IN" dirty="0"/>
              <a:t> New row cannot be added with </a:t>
            </a:r>
            <a:r>
              <a:rPr lang="en-IN" dirty="0" err="1"/>
              <a:t>iloc</a:t>
            </a:r>
            <a:r>
              <a:rPr lang="en-IN" dirty="0"/>
              <a:t> as it cannot extend  object</a:t>
            </a:r>
          </a:p>
          <a:p>
            <a:pPr marL="0" indent="0">
              <a:buNone/>
            </a:pPr>
            <a:r>
              <a:rPr lang="en-IN" dirty="0"/>
              <a:t>However, </a:t>
            </a:r>
            <a:r>
              <a:rPr lang="en-IN" dirty="0" err="1"/>
              <a:t>iloc</a:t>
            </a:r>
            <a:r>
              <a:rPr lang="en-IN" dirty="0"/>
              <a:t> can be  used update values if any index is already there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Using loc we can create duplicate data – appending duplicate records</a:t>
            </a:r>
          </a:p>
          <a:p>
            <a:pPr marL="0" indent="0">
              <a:buNone/>
            </a:pPr>
            <a:r>
              <a:rPr lang="en-IN" dirty="0"/>
              <a:t>Dropping duplicate is possible : </a:t>
            </a:r>
            <a:r>
              <a:rPr lang="en-IN" dirty="0" err="1"/>
              <a:t>df.drop</a:t>
            </a:r>
            <a:r>
              <a:rPr lang="en-IN" dirty="0"/>
              <a:t>([row1,row2…])  or </a:t>
            </a:r>
          </a:p>
          <a:p>
            <a:pPr marL="0" indent="0">
              <a:buNone/>
            </a:pPr>
            <a:r>
              <a:rPr lang="en-IN" dirty="0" err="1"/>
              <a:t>df.duplicated</a:t>
            </a:r>
            <a:r>
              <a:rPr lang="en-IN" dirty="0"/>
              <a:t>() – returns Boolean value for duplicate rows</a:t>
            </a:r>
          </a:p>
          <a:p>
            <a:pPr marL="0" indent="0">
              <a:buNone/>
            </a:pPr>
            <a:r>
              <a:rPr lang="en-IN" dirty="0" err="1"/>
              <a:t>df</a:t>
            </a:r>
            <a:r>
              <a:rPr lang="en-IN" dirty="0"/>
              <a:t>[</a:t>
            </a:r>
            <a:r>
              <a:rPr lang="en-IN" dirty="0" err="1"/>
              <a:t>df.duplicated</a:t>
            </a:r>
            <a:r>
              <a:rPr lang="en-IN" dirty="0"/>
              <a:t>()]  -- checks duplicate and then drop</a:t>
            </a:r>
          </a:p>
          <a:p>
            <a:pPr marL="0" indent="0">
              <a:buNone/>
            </a:pPr>
            <a:r>
              <a:rPr lang="en-IN" dirty="0" err="1"/>
              <a:t>df.drop_duplicates</a:t>
            </a:r>
            <a:r>
              <a:rPr lang="en-IN" dirty="0"/>
              <a:t>  -- this search duplicates and then drop values  </a:t>
            </a:r>
          </a:p>
          <a:p>
            <a:pPr marL="0" indent="0">
              <a:buNone/>
            </a:pPr>
            <a:r>
              <a:rPr lang="en-IN" dirty="0" err="1"/>
              <a:t>df.drop_duplicates</a:t>
            </a:r>
            <a:r>
              <a:rPr lang="en-IN" dirty="0"/>
              <a:t>(keep=‘first’) – keeps only first and rest of duplicates removed</a:t>
            </a:r>
          </a:p>
          <a:p>
            <a:pPr marL="0" indent="0">
              <a:buNone/>
            </a:pPr>
            <a:r>
              <a:rPr lang="en-IN" dirty="0" err="1"/>
              <a:t>df.drop_duplicates</a:t>
            </a:r>
            <a:r>
              <a:rPr lang="en-IN" dirty="0"/>
              <a:t>(keep=‘false’) – removes all duplicated record</a:t>
            </a:r>
          </a:p>
          <a:p>
            <a:pPr marL="0" indent="0">
              <a:buNone/>
            </a:pPr>
            <a:r>
              <a:rPr lang="en-IN" dirty="0" err="1"/>
              <a:t>df.duplicated</a:t>
            </a:r>
            <a:r>
              <a:rPr lang="en-IN" dirty="0"/>
              <a:t>(subset=[col1,col2…]) – checks duplicate entry in col1 and col2</a:t>
            </a:r>
          </a:p>
          <a:p>
            <a:pPr marL="0" indent="0">
              <a:buNone/>
            </a:pPr>
            <a:r>
              <a:rPr lang="en-IN" dirty="0"/>
              <a:t>Sum(</a:t>
            </a:r>
            <a:r>
              <a:rPr lang="en-IN" dirty="0" err="1"/>
              <a:t>df.duplicated</a:t>
            </a:r>
            <a:r>
              <a:rPr lang="en-IN" dirty="0"/>
              <a:t>(subset=[col1,col2…])) -  returns number of </a:t>
            </a:r>
            <a:r>
              <a:rPr lang="en-IN" dirty="0" err="1"/>
              <a:t>dupluicates</a:t>
            </a:r>
            <a:r>
              <a:rPr lang="en-IN" dirty="0"/>
              <a:t> for col1,col2 </a:t>
            </a:r>
          </a:p>
        </p:txBody>
      </p:sp>
    </p:spTree>
    <p:extLst>
      <p:ext uri="{BB962C8B-B14F-4D97-AF65-F5344CB8AC3E}">
        <p14:creationId xmlns:p14="http://schemas.microsoft.com/office/powerpoint/2010/main" val="5473756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72D38-4BD1-307E-4F65-A62B7B9B8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CAD22-A17A-AA5F-C135-E3D96D387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057" y="158297"/>
            <a:ext cx="10515600" cy="581932"/>
          </a:xfrm>
        </p:spPr>
        <p:txBody>
          <a:bodyPr>
            <a:normAutofit fontScale="90000"/>
          </a:bodyPr>
          <a:lstStyle/>
          <a:p>
            <a:r>
              <a:rPr lang="en-IN" dirty="0"/>
              <a:t>Pandas-slicing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A8FEC39-40EF-F85D-C5B2-9C0B288156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585" y="740230"/>
            <a:ext cx="11707585" cy="574765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dirty="0"/>
              <a:t>Rows are having explicit / implicit indexing and columns can be referenced by name or number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err="1"/>
              <a:t>df.loc</a:t>
            </a:r>
            <a:r>
              <a:rPr lang="en-IN" dirty="0"/>
              <a:t>[0:4,1:3] – will not work as columns need to referenced by name in loc</a:t>
            </a:r>
          </a:p>
          <a:p>
            <a:pPr marL="0" indent="0">
              <a:buNone/>
            </a:pPr>
            <a:r>
              <a:rPr lang="en-IN" dirty="0"/>
              <a:t> df.loc[0:4,col1:col2] – column name will work for loc, will show all columns  </a:t>
            </a:r>
            <a:br>
              <a:rPr lang="en-IN" dirty="0"/>
            </a:br>
            <a:r>
              <a:rPr lang="en-IN" dirty="0"/>
              <a:t> between col1 and col2</a:t>
            </a:r>
          </a:p>
          <a:p>
            <a:pPr marL="0" indent="0">
              <a:buNone/>
            </a:pPr>
            <a:r>
              <a:rPr lang="en-IN" dirty="0"/>
              <a:t> df.loc[0:4,col1,col2] – column name will work for loc, will show columns col1 </a:t>
            </a:r>
            <a:br>
              <a:rPr lang="en-IN" dirty="0"/>
            </a:br>
            <a:r>
              <a:rPr lang="en-IN" dirty="0"/>
              <a:t> and col2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err="1"/>
              <a:t>df.iloc</a:t>
            </a:r>
            <a:r>
              <a:rPr lang="en-IN" dirty="0"/>
              <a:t>[0:4,1:3] – will work as columns need to referenced by number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err="1"/>
              <a:t>df.iloc</a:t>
            </a:r>
            <a:r>
              <a:rPr lang="en-IN" dirty="0"/>
              <a:t>[0:4:2, 1:4] – will skip 1 row starting from 0 – all even rows , column 1 to 3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df.loc[0:4:2, col1:col2:2] – will skip 1 row starting from 0 – all even rows , column col1 to col2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2870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C08EF-1D91-224B-6535-0000ED826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C20B3-B257-2E63-91EB-64AB4827A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057" y="158297"/>
            <a:ext cx="10515600" cy="581932"/>
          </a:xfrm>
        </p:spPr>
        <p:txBody>
          <a:bodyPr>
            <a:normAutofit fontScale="90000"/>
          </a:bodyPr>
          <a:lstStyle/>
          <a:p>
            <a:r>
              <a:rPr lang="en-IN" dirty="0"/>
              <a:t>Pandas-functions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FECE050-D6D2-9E7F-E212-35BF027C3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585" y="740230"/>
            <a:ext cx="11707586" cy="611777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 t = </a:t>
            </a:r>
            <a:r>
              <a:rPr lang="en-IN" dirty="0" err="1"/>
              <a:t>df</a:t>
            </a:r>
            <a:r>
              <a:rPr lang="en-IN" dirty="0"/>
              <a:t>[col1]</a:t>
            </a:r>
          </a:p>
          <a:p>
            <a:pPr marL="0" indent="0">
              <a:buNone/>
            </a:pPr>
            <a:r>
              <a:rPr lang="en-IN" dirty="0" err="1"/>
              <a:t>t.mean</a:t>
            </a:r>
            <a:r>
              <a:rPr lang="en-IN" dirty="0"/>
              <a:t>()  -- average</a:t>
            </a:r>
          </a:p>
          <a:p>
            <a:pPr marL="0" indent="0">
              <a:buNone/>
            </a:pPr>
            <a:r>
              <a:rPr lang="en-IN" dirty="0" err="1"/>
              <a:t>df</a:t>
            </a:r>
            <a:r>
              <a:rPr lang="en-IN" dirty="0"/>
              <a:t>[col1].mean()  -- average </a:t>
            </a:r>
          </a:p>
          <a:p>
            <a:pPr marL="0" indent="0">
              <a:buNone/>
            </a:pPr>
            <a:r>
              <a:rPr lang="en-IN" dirty="0" err="1"/>
              <a:t>t.min</a:t>
            </a:r>
            <a:r>
              <a:rPr lang="en-IN" dirty="0"/>
              <a:t>()</a:t>
            </a:r>
          </a:p>
          <a:p>
            <a:pPr marL="0" indent="0">
              <a:buNone/>
            </a:pPr>
            <a:r>
              <a:rPr lang="en-IN" dirty="0" err="1"/>
              <a:t>t.max</a:t>
            </a:r>
            <a:r>
              <a:rPr lang="en-IN" dirty="0"/>
              <a:t>()</a:t>
            </a:r>
          </a:p>
          <a:p>
            <a:pPr marL="0" indent="0">
              <a:buNone/>
            </a:pPr>
            <a:r>
              <a:rPr lang="en-IN" dirty="0"/>
              <a:t>t=</a:t>
            </a:r>
            <a:r>
              <a:rPr lang="en-IN" dirty="0" err="1"/>
              <a:t>df.sort_values</a:t>
            </a:r>
            <a:r>
              <a:rPr lang="en-IN" dirty="0"/>
              <a:t>(by=col1) # sorting on any columns with pandas data type</a:t>
            </a:r>
          </a:p>
          <a:p>
            <a:pPr marL="0" indent="0">
              <a:buNone/>
            </a:pPr>
            <a:r>
              <a:rPr lang="en-IN" dirty="0"/>
              <a:t>t=</a:t>
            </a:r>
            <a:r>
              <a:rPr lang="en-IN" dirty="0" err="1"/>
              <a:t>df.sort_values</a:t>
            </a:r>
            <a:r>
              <a:rPr lang="en-IN" dirty="0"/>
              <a:t>(by=col1, ascending=false ) # sorting on any columns with pandas data type in descending order</a:t>
            </a:r>
          </a:p>
          <a:p>
            <a:pPr marL="0" indent="0">
              <a:buNone/>
            </a:pPr>
            <a:r>
              <a:rPr lang="en-IN" dirty="0"/>
              <a:t>t=</a:t>
            </a:r>
            <a:r>
              <a:rPr lang="en-IN" dirty="0" err="1"/>
              <a:t>df.sort_values</a:t>
            </a:r>
            <a:r>
              <a:rPr lang="en-IN" dirty="0"/>
              <a:t>(by=[col1, col2])  #sorted with multiple columns</a:t>
            </a:r>
          </a:p>
          <a:p>
            <a:pPr marL="0" indent="0">
              <a:buNone/>
            </a:pPr>
            <a:r>
              <a:rPr lang="en-IN" dirty="0"/>
              <a:t>t=</a:t>
            </a:r>
            <a:r>
              <a:rPr lang="en-IN" dirty="0" err="1"/>
              <a:t>df.sort_values</a:t>
            </a:r>
            <a:r>
              <a:rPr lang="en-IN" dirty="0"/>
              <a:t>(by=[col1, col2], ascending=[</a:t>
            </a:r>
            <a:r>
              <a:rPr lang="en-IN" dirty="0" err="1"/>
              <a:t>false,true</a:t>
            </a:r>
            <a:r>
              <a:rPr lang="en-IN" dirty="0"/>
              <a:t>])  #sorted with multiple columns</a:t>
            </a:r>
          </a:p>
          <a:p>
            <a:pPr marL="0" indent="0">
              <a:buNone/>
            </a:pPr>
            <a:r>
              <a:rPr lang="en-IN" dirty="0"/>
              <a:t>Sorting change index orders, </a:t>
            </a:r>
            <a:r>
              <a:rPr lang="en-IN" dirty="0" err="1"/>
              <a:t>reset_index</a:t>
            </a:r>
            <a:r>
              <a:rPr lang="en-IN" dirty="0"/>
              <a:t> will revert back to original index</a:t>
            </a:r>
          </a:p>
          <a:p>
            <a:pPr marL="0" indent="0">
              <a:buNone/>
            </a:pPr>
            <a:r>
              <a:rPr lang="en-IN" dirty="0" err="1"/>
              <a:t>t.reset_index</a:t>
            </a:r>
            <a:r>
              <a:rPr lang="en-IN" dirty="0"/>
              <a:t>(drop=true, </a:t>
            </a:r>
            <a:r>
              <a:rPr lang="en-IN" dirty="0" err="1"/>
              <a:t>inplace</a:t>
            </a:r>
            <a:r>
              <a:rPr lang="en-IN" dirty="0"/>
              <a:t>=true) </a:t>
            </a:r>
          </a:p>
          <a:p>
            <a:pPr marL="0" indent="0">
              <a:buNone/>
            </a:pPr>
            <a:r>
              <a:rPr lang="en-IN" dirty="0" err="1"/>
              <a:t>t.to_csv</a:t>
            </a:r>
            <a:r>
              <a:rPr lang="en-IN" dirty="0"/>
              <a:t>(filename , index  = true) – saves data into temporary file with indexes, 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4598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59855-AFF3-07F9-8A88-4B3B1C60D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DB2887F-0593-D607-7422-0EFA290F3D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585" y="740230"/>
            <a:ext cx="11707586" cy="61177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 err="1"/>
              <a:t>t.to_csv</a:t>
            </a:r>
            <a:r>
              <a:rPr lang="en-IN" dirty="0"/>
              <a:t>(filename , index  = true) – saves data into temporary file with indexes,  the file get deleted when notebook session is closed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Concatenation:</a:t>
            </a:r>
          </a:p>
          <a:p>
            <a:pPr marL="0" indent="0">
              <a:buNone/>
            </a:pPr>
            <a:r>
              <a:rPr lang="en-IN" dirty="0" err="1"/>
              <a:t>np.concatenate</a:t>
            </a:r>
            <a:r>
              <a:rPr lang="en-IN" dirty="0"/>
              <a:t>() joins two arrays on axis (0 – </a:t>
            </a:r>
            <a:r>
              <a:rPr lang="en-IN" dirty="0" err="1"/>
              <a:t>vstacks</a:t>
            </a:r>
            <a:r>
              <a:rPr lang="en-IN" dirty="0"/>
              <a:t>, 1- </a:t>
            </a:r>
            <a:r>
              <a:rPr lang="en-IN" dirty="0" err="1"/>
              <a:t>Hstack</a:t>
            </a:r>
            <a:r>
              <a:rPr lang="en-IN" dirty="0"/>
              <a:t>) – </a:t>
            </a:r>
            <a:r>
              <a:rPr lang="en-IN" dirty="0" err="1"/>
              <a:t>numpy</a:t>
            </a:r>
            <a:endParaRPr lang="en-IN" dirty="0"/>
          </a:p>
          <a:p>
            <a:pPr marL="0" indent="0">
              <a:buNone/>
            </a:pPr>
            <a:r>
              <a:rPr lang="en-IN" dirty="0" err="1"/>
              <a:t>usr</a:t>
            </a:r>
            <a:r>
              <a:rPr lang="en-IN" dirty="0"/>
              <a:t>=</a:t>
            </a:r>
            <a:r>
              <a:rPr lang="en-IN" dirty="0" err="1"/>
              <a:t>pd.DataFrame</a:t>
            </a:r>
            <a:r>
              <a:rPr lang="en-IN" dirty="0"/>
              <a:t>({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userid</a:t>
            </a:r>
            <a:r>
              <a:rPr lang="en-IN" dirty="0"/>
              <a:t>:[1,2,3],</a:t>
            </a:r>
          </a:p>
          <a:p>
            <a:pPr marL="0" indent="0">
              <a:buNone/>
            </a:pPr>
            <a:r>
              <a:rPr lang="en-IN" dirty="0"/>
              <a:t>	name:[‘</a:t>
            </a:r>
            <a:r>
              <a:rPr lang="en-IN" dirty="0" err="1"/>
              <a:t>a’,’b’,’c</a:t>
            </a:r>
            <a:r>
              <a:rPr lang="en-IN" dirty="0"/>
              <a:t>’]  })</a:t>
            </a:r>
          </a:p>
          <a:p>
            <a:pPr marL="0" indent="0">
              <a:buNone/>
            </a:pPr>
            <a:r>
              <a:rPr lang="en-IN" dirty="0" err="1"/>
              <a:t>msgs</a:t>
            </a:r>
            <a:r>
              <a:rPr lang="en-IN" dirty="0"/>
              <a:t>=</a:t>
            </a:r>
            <a:r>
              <a:rPr lang="en-IN" dirty="0" err="1"/>
              <a:t>pd.DataFrame</a:t>
            </a:r>
            <a:r>
              <a:rPr lang="en-IN" dirty="0"/>
              <a:t>({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userid</a:t>
            </a:r>
            <a:r>
              <a:rPr lang="en-IN" dirty="0"/>
              <a:t>:[1,1,2,4],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msg</a:t>
            </a:r>
            <a:r>
              <a:rPr lang="en-IN" dirty="0"/>
              <a:t>: [‘</a:t>
            </a:r>
            <a:r>
              <a:rPr lang="en-IN" dirty="0" err="1"/>
              <a:t>yes’,’ok’,’fine’,’no</a:t>
            </a:r>
            <a:r>
              <a:rPr lang="en-IN" dirty="0"/>
              <a:t>’] }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C08EC8-28DA-114B-C3FD-8853BB7BF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057" y="158297"/>
            <a:ext cx="10515600" cy="581932"/>
          </a:xfrm>
        </p:spPr>
        <p:txBody>
          <a:bodyPr>
            <a:normAutofit fontScale="90000"/>
          </a:bodyPr>
          <a:lstStyle/>
          <a:p>
            <a:r>
              <a:rPr lang="en-IN" dirty="0"/>
              <a:t>Pandas-functions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CA1FE7-5C7A-7F37-E913-DB45700D602A}"/>
              </a:ext>
            </a:extLst>
          </p:cNvPr>
          <p:cNvSpPr txBox="1"/>
          <p:nvPr/>
        </p:nvSpPr>
        <p:spPr>
          <a:xfrm>
            <a:off x="5437415" y="3216274"/>
            <a:ext cx="6477000" cy="15696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400" dirty="0" err="1"/>
              <a:t>Pd.concat</a:t>
            </a:r>
            <a:r>
              <a:rPr lang="en-IN" sz="2400" dirty="0"/>
              <a:t>([</a:t>
            </a:r>
            <a:r>
              <a:rPr lang="en-IN" sz="2400" dirty="0" err="1"/>
              <a:t>usr,msg</a:t>
            </a:r>
            <a:r>
              <a:rPr lang="en-IN" sz="2400" dirty="0"/>
              <a:t>]) – will join two  </a:t>
            </a:r>
            <a:r>
              <a:rPr lang="en-IN" sz="2400" dirty="0" err="1"/>
              <a:t>dataframes</a:t>
            </a:r>
            <a:endParaRPr lang="en-IN" sz="2400" dirty="0"/>
          </a:p>
          <a:p>
            <a:r>
              <a:rPr lang="en-IN" sz="2400" dirty="0"/>
              <a:t>Vertically. </a:t>
            </a:r>
          </a:p>
          <a:p>
            <a:r>
              <a:rPr lang="en-IN" sz="2400" dirty="0"/>
              <a:t>Default AXIS=0 which </a:t>
            </a:r>
            <a:r>
              <a:rPr lang="en-IN" sz="2400" dirty="0" err="1"/>
              <a:t>concat</a:t>
            </a:r>
            <a:r>
              <a:rPr lang="en-IN" sz="2400" dirty="0"/>
              <a:t> vertically.</a:t>
            </a:r>
          </a:p>
          <a:p>
            <a:r>
              <a:rPr lang="en-IN" sz="2400" dirty="0" err="1"/>
              <a:t>Pd.concat</a:t>
            </a:r>
            <a:r>
              <a:rPr lang="en-IN" sz="2400" dirty="0"/>
              <a:t>([</a:t>
            </a:r>
            <a:r>
              <a:rPr lang="en-IN" sz="2400" dirty="0" err="1"/>
              <a:t>usr,msg</a:t>
            </a:r>
            <a:r>
              <a:rPr lang="en-IN" sz="2400" dirty="0"/>
              <a:t>],axis=0) – returns same</a:t>
            </a:r>
          </a:p>
        </p:txBody>
      </p:sp>
    </p:spTree>
    <p:extLst>
      <p:ext uri="{BB962C8B-B14F-4D97-AF65-F5344CB8AC3E}">
        <p14:creationId xmlns:p14="http://schemas.microsoft.com/office/powerpoint/2010/main" val="12952419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07562-93FE-AC77-F0C9-60755FE75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E96B286-9CA1-4E83-E3FA-5D0B8376B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585" y="740230"/>
            <a:ext cx="11707586" cy="61177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 err="1"/>
              <a:t>t.to_csv</a:t>
            </a:r>
            <a:r>
              <a:rPr lang="en-IN" dirty="0"/>
              <a:t>(filename , index  = true) – saves data into temporary file with indexes,  the file get deleted when notebook session is closed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Concatenation:</a:t>
            </a:r>
          </a:p>
          <a:p>
            <a:pPr marL="0" indent="0">
              <a:buNone/>
            </a:pPr>
            <a:r>
              <a:rPr lang="en-IN" dirty="0" err="1"/>
              <a:t>np.concatenate</a:t>
            </a:r>
            <a:r>
              <a:rPr lang="en-IN" dirty="0"/>
              <a:t>() joins two arrays on axis (0 – </a:t>
            </a:r>
            <a:r>
              <a:rPr lang="en-IN" dirty="0" err="1"/>
              <a:t>vstacks</a:t>
            </a:r>
            <a:r>
              <a:rPr lang="en-IN" dirty="0"/>
              <a:t>, 1- </a:t>
            </a:r>
            <a:r>
              <a:rPr lang="en-IN" dirty="0" err="1"/>
              <a:t>Hstack</a:t>
            </a:r>
            <a:r>
              <a:rPr lang="en-IN" dirty="0"/>
              <a:t>) – </a:t>
            </a:r>
            <a:r>
              <a:rPr lang="en-IN" dirty="0" err="1"/>
              <a:t>numpy</a:t>
            </a:r>
            <a:endParaRPr lang="en-IN" dirty="0"/>
          </a:p>
          <a:p>
            <a:pPr marL="0" indent="0">
              <a:buNone/>
            </a:pPr>
            <a:r>
              <a:rPr lang="en-IN" dirty="0" err="1"/>
              <a:t>usr</a:t>
            </a:r>
            <a:r>
              <a:rPr lang="en-IN" dirty="0"/>
              <a:t>=</a:t>
            </a:r>
            <a:r>
              <a:rPr lang="en-IN" dirty="0" err="1"/>
              <a:t>pd.DataFrame</a:t>
            </a:r>
            <a:r>
              <a:rPr lang="en-IN" dirty="0"/>
              <a:t>({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userid</a:t>
            </a:r>
            <a:r>
              <a:rPr lang="en-IN" dirty="0"/>
              <a:t>:[1,2,3],</a:t>
            </a:r>
          </a:p>
          <a:p>
            <a:pPr marL="0" indent="0">
              <a:buNone/>
            </a:pPr>
            <a:r>
              <a:rPr lang="en-IN" dirty="0"/>
              <a:t>	name:[‘</a:t>
            </a:r>
            <a:r>
              <a:rPr lang="en-IN" dirty="0" err="1"/>
              <a:t>a’,’b’,’c</a:t>
            </a:r>
            <a:r>
              <a:rPr lang="en-IN" dirty="0"/>
              <a:t>’]  })</a:t>
            </a:r>
          </a:p>
          <a:p>
            <a:pPr marL="0" indent="0">
              <a:buNone/>
            </a:pPr>
            <a:r>
              <a:rPr lang="en-IN" dirty="0" err="1"/>
              <a:t>msgs</a:t>
            </a:r>
            <a:r>
              <a:rPr lang="en-IN" dirty="0"/>
              <a:t>=</a:t>
            </a:r>
            <a:r>
              <a:rPr lang="en-IN" dirty="0" err="1"/>
              <a:t>pd.DataFrame</a:t>
            </a:r>
            <a:r>
              <a:rPr lang="en-IN" dirty="0"/>
              <a:t>({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userid</a:t>
            </a:r>
            <a:r>
              <a:rPr lang="en-IN" dirty="0"/>
              <a:t>:[1,1,2,4],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msg</a:t>
            </a:r>
            <a:r>
              <a:rPr lang="en-IN" dirty="0"/>
              <a:t>: [‘</a:t>
            </a:r>
            <a:r>
              <a:rPr lang="en-IN" dirty="0" err="1"/>
              <a:t>yes’,’ok’,’fine’,’no</a:t>
            </a:r>
            <a:r>
              <a:rPr lang="en-IN" dirty="0"/>
              <a:t>’] }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244218-4AFE-7CBB-62E9-8CCA0B074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057" y="158297"/>
            <a:ext cx="10515600" cy="581932"/>
          </a:xfrm>
        </p:spPr>
        <p:txBody>
          <a:bodyPr>
            <a:normAutofit fontScale="90000"/>
          </a:bodyPr>
          <a:lstStyle/>
          <a:p>
            <a:r>
              <a:rPr lang="en-IN" dirty="0"/>
              <a:t>Pandas-concatenation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A45DD0-C30D-EFA6-86FB-33CC862D5235}"/>
              </a:ext>
            </a:extLst>
          </p:cNvPr>
          <p:cNvSpPr txBox="1"/>
          <p:nvPr/>
        </p:nvSpPr>
        <p:spPr>
          <a:xfrm>
            <a:off x="5437415" y="3216274"/>
            <a:ext cx="6477000" cy="15696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400" dirty="0" err="1"/>
              <a:t>Pd.concat</a:t>
            </a:r>
            <a:r>
              <a:rPr lang="en-IN" sz="2400" dirty="0"/>
              <a:t>([</a:t>
            </a:r>
            <a:r>
              <a:rPr lang="en-IN" sz="2400" dirty="0" err="1"/>
              <a:t>usr,msg</a:t>
            </a:r>
            <a:r>
              <a:rPr lang="en-IN" sz="2400" dirty="0"/>
              <a:t>]) – will join two  </a:t>
            </a:r>
            <a:r>
              <a:rPr lang="en-IN" sz="2400" dirty="0" err="1"/>
              <a:t>dataframes</a:t>
            </a:r>
            <a:endParaRPr lang="en-IN" sz="2400" dirty="0"/>
          </a:p>
          <a:p>
            <a:r>
              <a:rPr lang="en-IN" sz="2400" dirty="0"/>
              <a:t>Vertically. </a:t>
            </a:r>
          </a:p>
          <a:p>
            <a:r>
              <a:rPr lang="en-IN" sz="2400" dirty="0"/>
              <a:t>Default AXIS=0 which </a:t>
            </a:r>
            <a:r>
              <a:rPr lang="en-IN" sz="2400" dirty="0" err="1"/>
              <a:t>concat</a:t>
            </a:r>
            <a:r>
              <a:rPr lang="en-IN" sz="2400" dirty="0"/>
              <a:t> vertically.</a:t>
            </a:r>
          </a:p>
          <a:p>
            <a:r>
              <a:rPr lang="en-IN" sz="2400" dirty="0" err="1"/>
              <a:t>Pd.concat</a:t>
            </a:r>
            <a:r>
              <a:rPr lang="en-IN" sz="2400" dirty="0"/>
              <a:t>([</a:t>
            </a:r>
            <a:r>
              <a:rPr lang="en-IN" sz="2400" dirty="0" err="1"/>
              <a:t>usr,msg</a:t>
            </a:r>
            <a:r>
              <a:rPr lang="en-IN" sz="2400" dirty="0"/>
              <a:t>],axis=0) – returns same</a:t>
            </a:r>
          </a:p>
        </p:txBody>
      </p:sp>
    </p:spTree>
    <p:extLst>
      <p:ext uri="{BB962C8B-B14F-4D97-AF65-F5344CB8AC3E}">
        <p14:creationId xmlns:p14="http://schemas.microsoft.com/office/powerpoint/2010/main" val="8162469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2BD11-EC8D-7D43-3717-20E86F74D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31BD0D-6112-CD15-AADC-2B088D3CF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585" y="740230"/>
            <a:ext cx="11707586" cy="586739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 err="1"/>
              <a:t>Pd.concat</a:t>
            </a:r>
            <a:r>
              <a:rPr lang="en-IN" dirty="0"/>
              <a:t>([</a:t>
            </a:r>
            <a:r>
              <a:rPr lang="en-IN" dirty="0" err="1"/>
              <a:t>usr,msg</a:t>
            </a:r>
            <a:r>
              <a:rPr lang="en-IN" dirty="0"/>
              <a:t>],axis=1) – will join two  </a:t>
            </a:r>
            <a:r>
              <a:rPr lang="en-IN" dirty="0" err="1"/>
              <a:t>dataframes</a:t>
            </a:r>
            <a:r>
              <a:rPr lang="en-IN" dirty="0"/>
              <a:t> horizontally. </a:t>
            </a:r>
          </a:p>
          <a:p>
            <a:pPr marL="0" indent="0">
              <a:buNone/>
            </a:pPr>
            <a:r>
              <a:rPr lang="en-IN" dirty="0"/>
              <a:t>Default AXIS=1 which </a:t>
            </a:r>
            <a:r>
              <a:rPr lang="en-IN" dirty="0" err="1"/>
              <a:t>concat</a:t>
            </a:r>
            <a:r>
              <a:rPr lang="en-IN" dirty="0"/>
              <a:t> horizontally.</a:t>
            </a:r>
          </a:p>
          <a:p>
            <a:pPr marL="0" indent="0">
              <a:buNone/>
            </a:pPr>
            <a:r>
              <a:rPr lang="en-IN" dirty="0" err="1"/>
              <a:t>pd.concat</a:t>
            </a:r>
            <a:r>
              <a:rPr lang="en-IN" dirty="0"/>
              <a:t>([</a:t>
            </a:r>
            <a:r>
              <a:rPr lang="en-IN" dirty="0" err="1"/>
              <a:t>usr,msg</a:t>
            </a:r>
            <a:r>
              <a:rPr lang="en-IN" dirty="0"/>
              <a:t>],axis=0) – returns same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Merging is more used for handling data elements.</a:t>
            </a:r>
          </a:p>
          <a:p>
            <a:pPr marL="0" indent="0">
              <a:buNone/>
            </a:pPr>
            <a:r>
              <a:rPr lang="en-IN" dirty="0"/>
              <a:t>Merging is like joins – inner, full outer, left outer and right outer joins</a:t>
            </a:r>
          </a:p>
          <a:p>
            <a:pPr marL="0" indent="0">
              <a:buNone/>
            </a:pPr>
            <a:r>
              <a:rPr lang="en-IN" dirty="0" err="1"/>
              <a:t>usr.merge</a:t>
            </a:r>
            <a:r>
              <a:rPr lang="en-IN" dirty="0"/>
              <a:t>(</a:t>
            </a:r>
            <a:r>
              <a:rPr lang="en-IN" dirty="0" err="1"/>
              <a:t>msgs</a:t>
            </a:r>
            <a:r>
              <a:rPr lang="en-IN" dirty="0"/>
              <a:t>)  -- inner join</a:t>
            </a:r>
          </a:p>
          <a:p>
            <a:pPr marL="0" indent="0">
              <a:buNone/>
            </a:pPr>
            <a:r>
              <a:rPr lang="en-IN" dirty="0" err="1"/>
              <a:t>usr.merge</a:t>
            </a:r>
            <a:r>
              <a:rPr lang="en-IN" dirty="0"/>
              <a:t>(</a:t>
            </a:r>
            <a:r>
              <a:rPr lang="en-IN" dirty="0" err="1"/>
              <a:t>msgs</a:t>
            </a:r>
            <a:r>
              <a:rPr lang="en-IN" dirty="0"/>
              <a:t>, how=‘left’)  --left outer join</a:t>
            </a:r>
          </a:p>
          <a:p>
            <a:pPr marL="0" indent="0">
              <a:buNone/>
            </a:pPr>
            <a:r>
              <a:rPr lang="en-IN" dirty="0" err="1"/>
              <a:t>usr.merge</a:t>
            </a:r>
            <a:r>
              <a:rPr lang="en-IN" dirty="0"/>
              <a:t>(</a:t>
            </a:r>
            <a:r>
              <a:rPr lang="en-IN" dirty="0" err="1"/>
              <a:t>msgs</a:t>
            </a:r>
            <a:r>
              <a:rPr lang="en-IN" dirty="0"/>
              <a:t>, how=‘right’)  --right outer join</a:t>
            </a:r>
          </a:p>
          <a:p>
            <a:pPr marL="0" indent="0">
              <a:buNone/>
            </a:pPr>
            <a:r>
              <a:rPr lang="en-IN" dirty="0" err="1"/>
              <a:t>usr.merge</a:t>
            </a:r>
            <a:r>
              <a:rPr lang="en-IN" dirty="0"/>
              <a:t>(</a:t>
            </a:r>
            <a:r>
              <a:rPr lang="en-IN" dirty="0" err="1"/>
              <a:t>msgs</a:t>
            </a:r>
            <a:r>
              <a:rPr lang="en-IN" dirty="0"/>
              <a:t>, how=‘outer’)  --full  outer join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Join happens on common column that is present in both data frame.</a:t>
            </a:r>
          </a:p>
          <a:p>
            <a:pPr marL="0" indent="0">
              <a:buNone/>
            </a:pPr>
            <a:r>
              <a:rPr lang="en-IN" dirty="0"/>
              <a:t>If there is no common columns then we need to explicitly tell column  names to join. </a:t>
            </a:r>
          </a:p>
          <a:p>
            <a:pPr marL="0" indent="0">
              <a:buNone/>
            </a:pPr>
            <a:r>
              <a:rPr lang="en-IN" dirty="0" err="1"/>
              <a:t>usr.rename</a:t>
            </a:r>
            <a:r>
              <a:rPr lang="en-IN" dirty="0"/>
              <a:t>(columns={‘</a:t>
            </a:r>
            <a:r>
              <a:rPr lang="en-IN" dirty="0" err="1"/>
              <a:t>userid</a:t>
            </a:r>
            <a:r>
              <a:rPr lang="en-IN" dirty="0"/>
              <a:t>’:’id’},</a:t>
            </a:r>
            <a:r>
              <a:rPr lang="en-IN" dirty="0" err="1"/>
              <a:t>inplace</a:t>
            </a:r>
            <a:r>
              <a:rPr lang="en-IN" dirty="0"/>
              <a:t>=True)   -- change the </a:t>
            </a:r>
            <a:r>
              <a:rPr lang="en-IN" dirty="0" err="1"/>
              <a:t>userid</a:t>
            </a:r>
            <a:r>
              <a:rPr lang="en-IN" dirty="0"/>
              <a:t> column to id</a:t>
            </a:r>
          </a:p>
          <a:p>
            <a:pPr marL="0" indent="0">
              <a:buNone/>
            </a:pPr>
            <a:r>
              <a:rPr lang="en-IN" dirty="0" err="1"/>
              <a:t>usr.merge</a:t>
            </a:r>
            <a:r>
              <a:rPr lang="en-IN" dirty="0"/>
              <a:t>(</a:t>
            </a:r>
            <a:r>
              <a:rPr lang="en-IN" dirty="0" err="1"/>
              <a:t>msgs</a:t>
            </a:r>
            <a:r>
              <a:rPr lang="en-IN" dirty="0"/>
              <a:t>, </a:t>
            </a:r>
            <a:r>
              <a:rPr lang="en-IN" dirty="0" err="1"/>
              <a:t>left_on</a:t>
            </a:r>
            <a:r>
              <a:rPr lang="en-IN" dirty="0"/>
              <a:t>=‘id’,</a:t>
            </a:r>
            <a:r>
              <a:rPr lang="en-IN" dirty="0" err="1"/>
              <a:t>right_on</a:t>
            </a:r>
            <a:r>
              <a:rPr lang="en-IN" dirty="0"/>
              <a:t>=‘</a:t>
            </a:r>
            <a:r>
              <a:rPr lang="en-IN" dirty="0" err="1"/>
              <a:t>userid</a:t>
            </a:r>
            <a:r>
              <a:rPr lang="en-IN" dirty="0"/>
              <a:t>’, how=‘left’)</a:t>
            </a:r>
          </a:p>
          <a:p>
            <a:pPr marL="0" indent="0">
              <a:buNone/>
            </a:pPr>
            <a:r>
              <a:rPr lang="en-IN" dirty="0"/>
              <a:t>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578CDB-6BB8-62DA-4588-F5A6BF9DD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057" y="158297"/>
            <a:ext cx="10515600" cy="581932"/>
          </a:xfrm>
        </p:spPr>
        <p:txBody>
          <a:bodyPr>
            <a:normAutofit fontScale="90000"/>
          </a:bodyPr>
          <a:lstStyle/>
          <a:p>
            <a:r>
              <a:rPr lang="en-IN" dirty="0"/>
              <a:t>Pandas-merging</a:t>
            </a:r>
          </a:p>
        </p:txBody>
      </p:sp>
    </p:spTree>
    <p:extLst>
      <p:ext uri="{BB962C8B-B14F-4D97-AF65-F5344CB8AC3E}">
        <p14:creationId xmlns:p14="http://schemas.microsoft.com/office/powerpoint/2010/main" val="33822595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1687A-A87B-305C-EB04-F550FCF6E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BAE224C-BF14-B840-EFF8-DF8C4128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585" y="740230"/>
            <a:ext cx="11707586" cy="58673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Get the file loaded without indexes.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movies=</a:t>
            </a:r>
            <a:r>
              <a:rPr lang="en-IN" dirty="0" err="1"/>
              <a:t>pd.read_csv</a:t>
            </a:r>
            <a:r>
              <a:rPr lang="en-IN" dirty="0"/>
              <a:t>(‘movies.csv’,</a:t>
            </a:r>
            <a:r>
              <a:rPr lang="en-IN" dirty="0" err="1"/>
              <a:t>index_col</a:t>
            </a:r>
            <a:r>
              <a:rPr lang="en-IN" dirty="0"/>
              <a:t>=0)  -- this will make 0col as index col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Information about movies and directors:</a:t>
            </a:r>
          </a:p>
          <a:p>
            <a:pPr marL="0" indent="0">
              <a:buNone/>
            </a:pPr>
            <a:r>
              <a:rPr lang="en-IN" dirty="0"/>
              <a:t>Top 10 popular movies – higher rated movies?</a:t>
            </a:r>
          </a:p>
          <a:p>
            <a:pPr marL="0" indent="0">
              <a:buNone/>
            </a:pPr>
            <a:r>
              <a:rPr lang="en-IN" dirty="0"/>
              <a:t>Total count  of movies released  per year?</a:t>
            </a:r>
          </a:p>
          <a:p>
            <a:pPr marL="0" indent="0">
              <a:buNone/>
            </a:pPr>
            <a:r>
              <a:rPr lang="en-IN" dirty="0"/>
              <a:t>Which director  has top rated movies?</a:t>
            </a:r>
          </a:p>
          <a:p>
            <a:pPr marL="0" indent="0">
              <a:buNone/>
            </a:pPr>
            <a:r>
              <a:rPr lang="en-IN" dirty="0"/>
              <a:t>Who is the most productive director?</a:t>
            </a:r>
          </a:p>
          <a:p>
            <a:pPr marL="0" indent="0">
              <a:buNone/>
            </a:pPr>
            <a:r>
              <a:rPr lang="en-IN" dirty="0"/>
              <a:t>Which director create low budget movies?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DED7B0-5CF4-12BA-6B5D-9C7D471B4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057" y="158297"/>
            <a:ext cx="10515600" cy="581932"/>
          </a:xfrm>
        </p:spPr>
        <p:txBody>
          <a:bodyPr>
            <a:normAutofit fontScale="90000"/>
          </a:bodyPr>
          <a:lstStyle/>
          <a:p>
            <a:r>
              <a:rPr lang="en-IN" dirty="0"/>
              <a:t>IMDB Movie use  cases</a:t>
            </a:r>
          </a:p>
        </p:txBody>
      </p:sp>
    </p:spTree>
    <p:extLst>
      <p:ext uri="{BB962C8B-B14F-4D97-AF65-F5344CB8AC3E}">
        <p14:creationId xmlns:p14="http://schemas.microsoft.com/office/powerpoint/2010/main" val="18717695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FBAD8-134E-FEDB-1976-A05FA72D6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A660C79-B796-9055-B8E9-FCA06DEA77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585" y="740230"/>
            <a:ext cx="11707586" cy="58673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 We can find unique directors from movies data  frame.</a:t>
            </a:r>
          </a:p>
          <a:p>
            <a:pPr marL="0" indent="0">
              <a:buNone/>
            </a:pPr>
            <a:r>
              <a:rPr lang="en-IN" dirty="0"/>
              <a:t>We can find the all director ids from movies are present in director table using membership operator ‘in’.</a:t>
            </a:r>
          </a:p>
          <a:p>
            <a:pPr marL="0" indent="0">
              <a:buNone/>
            </a:pPr>
            <a:r>
              <a:rPr lang="en-IN" dirty="0"/>
              <a:t>Movies[‘</a:t>
            </a:r>
            <a:r>
              <a:rPr lang="en-IN" dirty="0" err="1"/>
              <a:t>director_id</a:t>
            </a:r>
            <a:r>
              <a:rPr lang="en-IN" dirty="0"/>
              <a:t>’].</a:t>
            </a:r>
            <a:r>
              <a:rPr lang="en-IN" dirty="0" err="1"/>
              <a:t>isin</a:t>
            </a:r>
            <a:r>
              <a:rPr lang="en-IN" dirty="0"/>
              <a:t>(directories(‘id’)) </a:t>
            </a:r>
          </a:p>
          <a:p>
            <a:pPr marL="0" indent="0">
              <a:buNone/>
            </a:pPr>
            <a:r>
              <a:rPr lang="en-IN" dirty="0"/>
              <a:t>To count unique values : Movies[‘</a:t>
            </a:r>
            <a:r>
              <a:rPr lang="en-IN" dirty="0" err="1"/>
              <a:t>director_id</a:t>
            </a:r>
            <a:r>
              <a:rPr lang="en-IN" dirty="0"/>
              <a:t>’].</a:t>
            </a:r>
            <a:r>
              <a:rPr lang="en-IN" dirty="0" err="1"/>
              <a:t>isin</a:t>
            </a:r>
            <a:r>
              <a:rPr lang="en-IN" dirty="0"/>
              <a:t>(directories(‘id’)).</a:t>
            </a:r>
            <a:r>
              <a:rPr lang="en-IN" dirty="0" err="1"/>
              <a:t>value_counts</a:t>
            </a:r>
            <a:r>
              <a:rPr lang="en-IN" dirty="0"/>
              <a:t>()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4A5A5F-9D39-1223-D711-829CFDB7C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057" y="158297"/>
            <a:ext cx="10515600" cy="581932"/>
          </a:xfrm>
        </p:spPr>
        <p:txBody>
          <a:bodyPr>
            <a:normAutofit fontScale="90000"/>
          </a:bodyPr>
          <a:lstStyle/>
          <a:p>
            <a:r>
              <a:rPr lang="en-IN" dirty="0"/>
              <a:t>IMDB Movie use  cases</a:t>
            </a:r>
          </a:p>
        </p:txBody>
      </p:sp>
    </p:spTree>
    <p:extLst>
      <p:ext uri="{BB962C8B-B14F-4D97-AF65-F5344CB8AC3E}">
        <p14:creationId xmlns:p14="http://schemas.microsoft.com/office/powerpoint/2010/main" val="37289499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88652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EFAB2-760D-BDE8-B197-76DADD909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F76DF8-0A9E-24B8-EA93-D42617C26432}"/>
              </a:ext>
            </a:extLst>
          </p:cNvPr>
          <p:cNvSpPr txBox="1"/>
          <p:nvPr/>
        </p:nvSpPr>
        <p:spPr>
          <a:xfrm>
            <a:off x="718457" y="2695192"/>
            <a:ext cx="10515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https://colab.research.google.com/drive/1fPBvIKVEKJhEdeWRVPCPnPmqw8CoFh9E?usp=sharing#scrollTo=DnX0gWUx-UiE</a:t>
            </a:r>
          </a:p>
        </p:txBody>
      </p:sp>
    </p:spTree>
    <p:extLst>
      <p:ext uri="{BB962C8B-B14F-4D97-AF65-F5344CB8AC3E}">
        <p14:creationId xmlns:p14="http://schemas.microsoft.com/office/powerpoint/2010/main" val="1818513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2672</TotalTime>
  <Words>2035</Words>
  <Application>Microsoft Office PowerPoint</Application>
  <PresentationFormat>Widescreen</PresentationFormat>
  <Paragraphs>189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Python basics - Pandas</vt:lpstr>
      <vt:lpstr>Why Pandas</vt:lpstr>
      <vt:lpstr>Pandas</vt:lpstr>
      <vt:lpstr>Pandas- column operation </vt:lpstr>
      <vt:lpstr>Pandas- Column  operations</vt:lpstr>
      <vt:lpstr>Pandas- Row  operations</vt:lpstr>
      <vt:lpstr>Pandas- Row  operations</vt:lpstr>
      <vt:lpstr>Pandas- loc &amp; iloc</vt:lpstr>
      <vt:lpstr>Pandas- insert and drop rows </vt:lpstr>
      <vt:lpstr>Pandas-slicing</vt:lpstr>
      <vt:lpstr>Pandas-functions</vt:lpstr>
      <vt:lpstr>Pandas-functions</vt:lpstr>
      <vt:lpstr>Pandas-concatenation</vt:lpstr>
      <vt:lpstr>Pandas-merging</vt:lpstr>
      <vt:lpstr>IMDB Movie use  cases</vt:lpstr>
      <vt:lpstr>IMDB Movie use  cases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Subham Mitra</dc:creator>
  <cp:lastModifiedBy>Subham Mitra</cp:lastModifiedBy>
  <cp:revision>15</cp:revision>
  <dcterms:created xsi:type="dcterms:W3CDTF">2025-07-18T15:48:43Z</dcterms:created>
  <dcterms:modified xsi:type="dcterms:W3CDTF">2025-08-06T18:41:42Z</dcterms:modified>
</cp:coreProperties>
</file>